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0" r:id="rId2"/>
    <p:sldMasterId id="2147483706" r:id="rId3"/>
    <p:sldMasterId id="2147483708" r:id="rId4"/>
  </p:sldMasterIdLst>
  <p:notesMasterIdLst>
    <p:notesMasterId r:id="rId46"/>
  </p:notesMasterIdLst>
  <p:handoutMasterIdLst>
    <p:handoutMasterId r:id="rId47"/>
  </p:handoutMasterIdLst>
  <p:sldIdLst>
    <p:sldId id="261" r:id="rId5"/>
    <p:sldId id="298" r:id="rId6"/>
    <p:sldId id="299" r:id="rId7"/>
    <p:sldId id="260" r:id="rId8"/>
    <p:sldId id="264" r:id="rId9"/>
    <p:sldId id="265" r:id="rId10"/>
    <p:sldId id="266" r:id="rId11"/>
    <p:sldId id="267" r:id="rId12"/>
    <p:sldId id="268" r:id="rId13"/>
    <p:sldId id="295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300" r:id="rId42"/>
    <p:sldId id="301" r:id="rId43"/>
    <p:sldId id="297" r:id="rId44"/>
    <p:sldId id="263" r:id="rId45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9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42D77-0CAD-4006-A3F8-0A6987625592}" type="datetimeFigureOut">
              <a:rPr lang="zh-HK" altLang="en-US" smtClean="0"/>
              <a:t>4/6/2024</a:t>
            </a:fld>
            <a:endParaRPr lang="zh-HK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D1EE6-E27E-420F-88E3-1DCE9FCBD6C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41960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3ABB8-55B1-4D2A-8D24-B8BB2AA1C407}" type="datetimeFigureOut">
              <a:rPr lang="zh-HK" altLang="en-US" smtClean="0"/>
              <a:t>4/6/2024</a:t>
            </a:fld>
            <a:endParaRPr lang="zh-HK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080E1-A0A6-46F8-BACF-C0EBAF4E857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31444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頁 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71600" y="479425"/>
            <a:ext cx="10515600" cy="1108743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zh-TW" altLang="en-US" dirty="0"/>
              <a:t>按一下以編輯母片標題樣式</a:t>
            </a:r>
            <a:endParaRPr lang="zh-HK" altLang="en-US" dirty="0"/>
          </a:p>
        </p:txBody>
      </p:sp>
      <p:sp>
        <p:nvSpPr>
          <p:cNvPr id="9" name="文字版面配置區 8"/>
          <p:cNvSpPr>
            <a:spLocks noGrp="1"/>
          </p:cNvSpPr>
          <p:nvPr>
            <p:ph type="body" sz="quarter" idx="13"/>
          </p:nvPr>
        </p:nvSpPr>
        <p:spPr>
          <a:xfrm>
            <a:off x="7258050" y="1744579"/>
            <a:ext cx="4629150" cy="8096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endParaRPr lang="zh-HK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501316" y="6356349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451485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5D849BA3-2C8C-EE42-8DBE-22EA1DC0541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96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/>
          <p:cNvSpPr>
            <a:spLocks noGrp="1"/>
          </p:cNvSpPr>
          <p:nvPr>
            <p:ph sz="quarter" idx="14"/>
          </p:nvPr>
        </p:nvSpPr>
        <p:spPr>
          <a:xfrm>
            <a:off x="838200" y="1678200"/>
            <a:ext cx="10432312" cy="331809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12" name="標題 11"/>
          <p:cNvSpPr>
            <a:spLocks noGrp="1"/>
          </p:cNvSpPr>
          <p:nvPr>
            <p:ph type="title"/>
          </p:nvPr>
        </p:nvSpPr>
        <p:spPr>
          <a:xfrm>
            <a:off x="838200" y="14083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3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隔頁 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0933" y="1455988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3951912" y="6356182"/>
            <a:ext cx="2743200" cy="365125"/>
          </a:xfrm>
        </p:spPr>
        <p:txBody>
          <a:bodyPr/>
          <a:lstStyle/>
          <a:p>
            <a:fld id="{A5160972-078B-D849-8550-7924E72DC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9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頁 End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40767" y="2988009"/>
            <a:ext cx="6926179" cy="1325563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HK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1855377" y="6356350"/>
            <a:ext cx="240664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AE8AF-175D-C546-B32A-B3C822B3B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862694-EBF1-3C42-A994-E05B3D72E9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8546"/>
            <a:ext cx="7042633" cy="6878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6B314A-13CD-DE4C-85A1-D4113D4B7E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8546"/>
            <a:ext cx="12192001" cy="687857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02D2C-7DE2-E348-950A-A8CEE5ADF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41BD3-B4AD-6C4C-B707-1AD5B9501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3807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9BA3-2C8C-EE42-8DBE-22EA1DC0541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標題版面配置區 2"/>
          <p:cNvSpPr>
            <a:spLocks noGrp="1"/>
          </p:cNvSpPr>
          <p:nvPr>
            <p:ph type="title"/>
          </p:nvPr>
        </p:nvSpPr>
        <p:spPr>
          <a:xfrm>
            <a:off x="1925053" y="365125"/>
            <a:ext cx="9922043" cy="1166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zh-HK" alt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>
          <a:xfrm>
            <a:off x="4896854" y="1789530"/>
            <a:ext cx="6950242" cy="1073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307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0" indent="0" algn="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  <a:lvl2pPr marL="685800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4">
            <a:extLst>
              <a:ext uri="{FF2B5EF4-FFF2-40B4-BE49-F238E27FC236}">
                <a16:creationId xmlns:a16="http://schemas.microsoft.com/office/drawing/2014/main" id="{F46D8E47-89E1-CE46-8312-8D9158AA19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48"/>
          <a:stretch/>
        </p:blipFill>
        <p:spPr>
          <a:xfrm>
            <a:off x="0" y="0"/>
            <a:ext cx="1221194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CBF8C-D820-CB44-BD12-66C03BCD9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22D5F-08D6-8B4D-BBCA-1C712B6CA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7279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D59E2-72DA-B24F-9CAA-8FC9C67336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838200" y="1063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zh-HK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>
          <a:xfrm>
            <a:off x="838200" y="15668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5464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C000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4">
            <a:extLst>
              <a:ext uri="{FF2B5EF4-FFF2-40B4-BE49-F238E27FC236}">
                <a16:creationId xmlns:a16="http://schemas.microsoft.com/office/drawing/2014/main" id="{A38CC837-3AF2-DB4E-9137-EF78A1FCC4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FE9CE-3722-3A43-9E20-5D67FFFAE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650CA-1B3F-E440-A79F-FBE9B2B1D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17133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60972-078B-D849-8550-7924E72DC5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409074" y="1327652"/>
            <a:ext cx="903571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2863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C000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35321DD-DF34-044B-A650-38BF15062F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2032"/>
            <a:ext cx="6382328" cy="68700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22882E-C255-D147-BE31-F5DF63B690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5" y="-12032"/>
            <a:ext cx="11827229" cy="687003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CEAC795-9323-C849-8297-7E1CD2D7D213}"/>
              </a:ext>
            </a:extLst>
          </p:cNvPr>
          <p:cNvSpPr txBox="1"/>
          <p:nvPr userDrawn="1"/>
        </p:nvSpPr>
        <p:spPr>
          <a:xfrm>
            <a:off x="4100034" y="6114757"/>
            <a:ext cx="7711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HK" sz="2400" b="1" kern="800" spc="60" dirty="0">
                <a:solidFill>
                  <a:schemeClr val="accent4"/>
                </a:solidFill>
                <a:latin typeface="Aller" panose="020B0803040302020204" pitchFamily="34" charset="0"/>
              </a:rPr>
              <a:t>ACCELERATING INTO A </a:t>
            </a:r>
            <a:r>
              <a:rPr lang="en-US" altLang="zh-HK" sz="3200" b="1" kern="800" spc="60" dirty="0">
                <a:solidFill>
                  <a:schemeClr val="accent4"/>
                </a:solidFill>
                <a:latin typeface="Aller" panose="020B0803040302020204" pitchFamily="34" charset="0"/>
              </a:rPr>
              <a:t>SMART</a:t>
            </a:r>
            <a:r>
              <a:rPr lang="en-US" altLang="zh-HK" sz="2400" b="1" kern="800" spc="60" dirty="0">
                <a:solidFill>
                  <a:schemeClr val="accent4"/>
                </a:solidFill>
                <a:latin typeface="Aller" panose="020B0803040302020204" pitchFamily="34" charset="0"/>
              </a:rPr>
              <a:t> FUTURE</a:t>
            </a:r>
            <a:endParaRPr lang="zh-HK" altLang="en-US" sz="2400" b="1" kern="800" spc="60" dirty="0">
              <a:solidFill>
                <a:schemeClr val="accent4"/>
              </a:solidFill>
              <a:latin typeface="Aller" panose="020B08030403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9D4B5-766F-F946-AF5E-02935FA48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31312" y="6356350"/>
            <a:ext cx="24066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4F866-2190-A54F-89F7-7F1EC132C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91793" y="6356350"/>
            <a:ext cx="1879598" cy="3462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AE8AF-175D-C546-B32A-B3C822B3B8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標題版面配置區 3"/>
          <p:cNvSpPr>
            <a:spLocks noGrp="1"/>
          </p:cNvSpPr>
          <p:nvPr>
            <p:ph type="title"/>
          </p:nvPr>
        </p:nvSpPr>
        <p:spPr>
          <a:xfrm>
            <a:off x="3424991" y="2852282"/>
            <a:ext cx="74544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58440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C000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smartcity.gov.hk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52.png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Introduction of CCS and IRN system</a:t>
            </a:r>
            <a:endParaRPr lang="zh-HK" altLang="en-US" b="1" dirty="0">
              <a:solidFill>
                <a:schemeClr val="bg1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849BA3-2C8C-EE42-8DBE-22EA1DC0541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HK" dirty="0" smtClean="0"/>
              <a:t>Friday, June 7, 2024</a:t>
            </a:r>
            <a:endParaRPr lang="zh-HK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57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457200" indent="-457200">
              <a:buFontTx/>
              <a:buChar char="-"/>
            </a:pPr>
            <a:r>
              <a:rPr lang="en-US" altLang="zh-TW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Autotoll</a:t>
            </a:r>
            <a:r>
              <a:rPr lang="en-US" altLang="zh-TW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TW" sz="2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 solution provider for IT industry.</a:t>
            </a:r>
          </a:p>
          <a:p>
            <a:pPr marL="457200" indent="-457200">
              <a:buFontTx/>
              <a:buChar char="-"/>
            </a:pPr>
            <a:r>
              <a:rPr lang="en-US" altLang="zh-TW" sz="2000" b="1" dirty="0" err="1" smtClean="0">
                <a:solidFill>
                  <a:schemeClr val="tx1"/>
                </a:solidFill>
              </a:rPr>
              <a:t>Autotoll</a:t>
            </a:r>
            <a:r>
              <a:rPr lang="en-US" altLang="zh-TW" sz="1800" dirty="0" smtClean="0">
                <a:solidFill>
                  <a:schemeClr val="tx1"/>
                </a:solidFill>
              </a:rPr>
              <a:t> </a:t>
            </a:r>
            <a:r>
              <a:rPr lang="en-US" altLang="zh-TW" sz="2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 established on 1 October 1998.</a:t>
            </a:r>
          </a:p>
          <a:p>
            <a:pPr marL="457200" indent="-457200">
              <a:buFontTx/>
              <a:buChar char="-"/>
            </a:pPr>
            <a:r>
              <a:rPr lang="en-US" altLang="zh-TW" sz="2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Office</a:t>
            </a:r>
          </a:p>
          <a:p>
            <a:pPr marL="1143000" lvl="1" indent="-457200">
              <a:buFontTx/>
              <a:buChar char="-"/>
            </a:pPr>
            <a:r>
              <a:rPr lang="en-US" altLang="zh-TW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Billion Centre (Kowloon Bay),  </a:t>
            </a:r>
            <a:r>
              <a:rPr lang="en-US" altLang="zh-TW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2.5 </a:t>
            </a:r>
            <a:r>
              <a:rPr lang="en-US" altLang="zh-TW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floors, over 200 staff.</a:t>
            </a:r>
          </a:p>
          <a:p>
            <a:pPr marL="1143000" lvl="1" indent="-457200">
              <a:buFontTx/>
              <a:buChar char="-"/>
            </a:pPr>
            <a:r>
              <a:rPr lang="en-US" altLang="zh-TW" sz="16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Evergain</a:t>
            </a:r>
            <a:r>
              <a:rPr lang="en-US" altLang="zh-TW" sz="1600" dirty="0"/>
              <a:t> </a:t>
            </a:r>
            <a:r>
              <a:rPr lang="en-US" altLang="zh-TW" sz="1600" dirty="0" smtClean="0"/>
              <a:t>Centre (</a:t>
            </a:r>
            <a:r>
              <a:rPr lang="en-US" altLang="zh-TW" sz="1600" dirty="0" err="1" smtClean="0"/>
              <a:t>Kwai</a:t>
            </a:r>
            <a:r>
              <a:rPr lang="en-US" altLang="zh-TW" sz="1600" dirty="0" smtClean="0"/>
              <a:t> Chung</a:t>
            </a:r>
            <a:r>
              <a:rPr lang="en-US" altLang="zh-TW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over 20 staff.</a:t>
            </a:r>
          </a:p>
          <a:p>
            <a:pPr marL="1143000" lvl="1" indent="-457200">
              <a:buFontTx/>
              <a:buChar char="-"/>
            </a:pPr>
            <a:r>
              <a:rPr lang="en-US" altLang="zh-TW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GZ </a:t>
            </a:r>
            <a:r>
              <a:rPr lang="en-US" altLang="zh-TW" sz="1600" dirty="0" smtClean="0"/>
              <a:t>E-Park, </a:t>
            </a:r>
            <a:r>
              <a:rPr lang="en-US" altLang="zh-TW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office 100 staff</a:t>
            </a:r>
            <a:r>
              <a:rPr lang="en-US" altLang="zh-TW" dirty="0"/>
              <a:t> .</a:t>
            </a:r>
            <a:endParaRPr lang="en-US" altLang="zh-TW" dirty="0" smtClean="0"/>
          </a:p>
          <a:p>
            <a:pPr marL="1143000" lvl="1" indent="-457200">
              <a:buFontTx/>
              <a:buChar char="-"/>
            </a:pPr>
            <a:endParaRPr lang="en-US" altLang="zh-TW" dirty="0" smtClean="0"/>
          </a:p>
          <a:p>
            <a:pPr marL="1143000" lvl="1" indent="-457200">
              <a:buFontTx/>
              <a:buChar char="-"/>
            </a:pP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is </a:t>
            </a:r>
            <a:r>
              <a:rPr lang="en-US" altLang="zh-TW" dirty="0" err="1" smtClean="0"/>
              <a:t>Autotoll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3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4"/>
          </p:nvPr>
        </p:nvSpPr>
        <p:spPr>
          <a:xfrm>
            <a:off x="838200" y="1678200"/>
            <a:ext cx="10432312" cy="4207211"/>
          </a:xfrm>
        </p:spPr>
        <p:txBody>
          <a:bodyPr>
            <a:normAutofit fontScale="25000" lnSpcReduction="20000"/>
          </a:bodyPr>
          <a:lstStyle/>
          <a:p>
            <a:pPr marL="457200" indent="-457200">
              <a:buFontTx/>
              <a:buChar char="-"/>
            </a:pPr>
            <a:r>
              <a:rPr lang="en-US" altLang="zh-TW" sz="7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 project</a:t>
            </a:r>
          </a:p>
          <a:p>
            <a:pPr marL="1143000" lvl="1" indent="-457200">
              <a:buFontTx/>
              <a:buChar char="-"/>
            </a:pPr>
            <a:r>
              <a:rPr lang="en-US" altLang="zh-TW" sz="7200" dirty="0"/>
              <a:t>Private sector</a:t>
            </a:r>
          </a:p>
          <a:p>
            <a:pPr marL="1600200" lvl="2" indent="-457200">
              <a:buFontTx/>
              <a:buChar char="-"/>
            </a:pPr>
            <a:r>
              <a:rPr lang="en-US" altLang="zh-TW" sz="7200" dirty="0"/>
              <a:t>CLP SOSS (Safely On-Site System), Entrance Control, Shutter Bus, Car </a:t>
            </a:r>
            <a:r>
              <a:rPr lang="en-US" altLang="zh-TW" sz="7200" dirty="0" smtClean="0"/>
              <a:t>booking</a:t>
            </a:r>
            <a:endParaRPr lang="en-US" altLang="zh-TW" sz="7200" dirty="0"/>
          </a:p>
          <a:p>
            <a:pPr marL="1600200" lvl="2" indent="-457200">
              <a:buFontTx/>
              <a:buChar char="-"/>
            </a:pPr>
            <a:r>
              <a:rPr lang="en-US" altLang="zh-TW" sz="7200" dirty="0" smtClean="0"/>
              <a:t>Truck </a:t>
            </a:r>
            <a:r>
              <a:rPr lang="en-US" altLang="zh-TW" sz="7200" dirty="0"/>
              <a:t>management (GPS), </a:t>
            </a:r>
            <a:r>
              <a:rPr lang="en-US" altLang="zh-TW" sz="7200" dirty="0" smtClean="0"/>
              <a:t>&gt; 20 thousand vehicle monitored.</a:t>
            </a:r>
            <a:endParaRPr lang="en-US" altLang="zh-TW" sz="7200" dirty="0"/>
          </a:p>
          <a:p>
            <a:pPr marL="1600200" lvl="2" indent="-457200">
              <a:buFontTx/>
              <a:buChar char="-"/>
            </a:pPr>
            <a:r>
              <a:rPr lang="en-US" altLang="zh-TW" sz="7200" dirty="0" err="1"/>
              <a:t>RehaBus</a:t>
            </a:r>
            <a:endParaRPr lang="en-US" altLang="zh-TW" sz="7200" dirty="0"/>
          </a:p>
          <a:p>
            <a:pPr marL="1600200" lvl="2" indent="-457200">
              <a:buFontTx/>
              <a:buChar char="-"/>
            </a:pPr>
            <a:r>
              <a:rPr lang="en-US" altLang="zh-TW" sz="7200" dirty="0"/>
              <a:t>EV charging</a:t>
            </a:r>
          </a:p>
          <a:p>
            <a:pPr marL="1600200" lvl="2" indent="-457200">
              <a:buFontTx/>
              <a:buChar char="-"/>
            </a:pPr>
            <a:r>
              <a:rPr lang="en-US" altLang="zh-TW" sz="7200" dirty="0"/>
              <a:t>Jackson Coach</a:t>
            </a:r>
          </a:p>
          <a:p>
            <a:pPr marL="1600200" lvl="2" indent="-457200">
              <a:buFontTx/>
              <a:buChar char="-"/>
            </a:pPr>
            <a:r>
              <a:rPr lang="en-US" altLang="zh-TW" sz="7200" dirty="0"/>
              <a:t>OLTD for Skip</a:t>
            </a:r>
          </a:p>
          <a:p>
            <a:pPr marL="1143000" lvl="1" indent="-457200">
              <a:buFontTx/>
              <a:buChar char="-"/>
            </a:pPr>
            <a:r>
              <a:rPr lang="en-US" altLang="zh-TW" sz="7200" dirty="0"/>
              <a:t>Government sector</a:t>
            </a:r>
          </a:p>
          <a:p>
            <a:pPr marL="1600200" lvl="2" indent="-457200">
              <a:buFontTx/>
              <a:buChar char="-"/>
            </a:pPr>
            <a:r>
              <a:rPr lang="en-US" altLang="zh-TW" sz="7200" dirty="0" err="1"/>
              <a:t>eToll</a:t>
            </a:r>
            <a:endParaRPr lang="en-US" altLang="zh-TW" sz="7200" dirty="0"/>
          </a:p>
          <a:p>
            <a:pPr marL="1600200" lvl="2" indent="-457200">
              <a:buFontTx/>
              <a:buChar char="-"/>
            </a:pPr>
            <a:r>
              <a:rPr lang="en-US" altLang="zh-TW" sz="7200" dirty="0"/>
              <a:t>TD57/93 (stage 1, 2)</a:t>
            </a:r>
          </a:p>
          <a:p>
            <a:pPr marL="1600200" lvl="2" indent="-457200">
              <a:buFontTx/>
              <a:buChar char="-"/>
            </a:pPr>
            <a:r>
              <a:rPr lang="en-US" altLang="zh-TW" sz="7200" dirty="0"/>
              <a:t>Smart Lamp Post</a:t>
            </a:r>
          </a:p>
          <a:p>
            <a:pPr marL="1600200" lvl="2" indent="-457200">
              <a:buFontTx/>
              <a:buChar char="-"/>
            </a:pPr>
            <a:r>
              <a:rPr lang="en-US" altLang="zh-TW" sz="7200" dirty="0"/>
              <a:t>Land’s department, SPIMS (Smart Position Instrument Management System)</a:t>
            </a:r>
          </a:p>
          <a:p>
            <a:pPr marL="1600200" lvl="2" indent="-457200">
              <a:buFontTx/>
              <a:buChar char="-"/>
            </a:pPr>
            <a:r>
              <a:rPr lang="en-US" altLang="zh-TW" sz="7200" dirty="0"/>
              <a:t>Traffic Control System (Tunnel, highway), TMCA, CKR, TSCA…</a:t>
            </a:r>
          </a:p>
          <a:p>
            <a:pPr marL="1600200" lvl="2" indent="-457200">
              <a:buFontTx/>
              <a:buChar char="-"/>
            </a:pPr>
            <a:r>
              <a:rPr lang="en-US" altLang="zh-TW" sz="7200" dirty="0"/>
              <a:t>SCC (Smart City Consortium) Recycle Collection Project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</a:t>
            </a:r>
            <a:r>
              <a:rPr lang="en-US" altLang="zh-TW" dirty="0" err="1" smtClean="0"/>
              <a:t>Autotoll</a:t>
            </a:r>
            <a:r>
              <a:rPr lang="en-US" altLang="zh-TW" dirty="0" smtClean="0"/>
              <a:t> </a:t>
            </a:r>
            <a:r>
              <a:rPr lang="en-US" altLang="zh-TW" smtClean="0"/>
              <a:t>is doing?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7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sz="quarter" idx="14"/>
          </p:nvPr>
        </p:nvSpPr>
        <p:spPr>
          <a:xfrm>
            <a:off x="638694" y="1054745"/>
            <a:ext cx="11082251" cy="5736753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Hong Kong Smart City Blueprint </a:t>
            </a:r>
            <a:r>
              <a:rPr lang="en-US" altLang="zh-TW" sz="1600" dirty="0"/>
              <a:t>(</a:t>
            </a:r>
            <a:r>
              <a:rPr lang="en-US" altLang="zh-TW" sz="1600" dirty="0">
                <a:hlinkClick r:id="rId2"/>
              </a:rPr>
              <a:t>https://www.smartcity.gov.hk/</a:t>
            </a:r>
            <a:r>
              <a:rPr lang="en-US" altLang="zh-TW" sz="1600" dirty="0"/>
              <a:t>)</a:t>
            </a:r>
            <a:endParaRPr lang="en-US" sz="1600" dirty="0"/>
          </a:p>
          <a:p>
            <a:endParaRPr lang="zh-HK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t>4</a:t>
            </a:fld>
            <a:endParaRPr lang="en-US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838200" y="140836"/>
            <a:ext cx="10515600" cy="1170379"/>
          </a:xfrm>
        </p:spPr>
        <p:txBody>
          <a:bodyPr/>
          <a:lstStyle/>
          <a:p>
            <a:r>
              <a:rPr lang="en-HK" dirty="0"/>
              <a:t>Background</a:t>
            </a:r>
            <a:endParaRPr lang="zh-HK" altLang="en-US" b="1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638694" y="1761574"/>
            <a:ext cx="479901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HK" altLang="en-US" sz="2400" dirty="0"/>
              <a:t>Six Major Areas:</a:t>
            </a:r>
            <a:endParaRPr lang="en-US" altLang="en-US" sz="2400" dirty="0"/>
          </a:p>
        </p:txBody>
      </p:sp>
      <p:pic>
        <p:nvPicPr>
          <p:cNvPr id="19" name="Picture 8" descr="Screen Clipping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0516" r="30702" b="68054"/>
          <a:stretch/>
        </p:blipFill>
        <p:spPr>
          <a:xfrm>
            <a:off x="1992683" y="2755564"/>
            <a:ext cx="864096" cy="1156083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20" name="Picture 9" descr="Screen Clipping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52" r="33315" b="68217"/>
          <a:stretch>
            <a:fillRect/>
          </a:stretch>
        </p:blipFill>
        <p:spPr bwMode="auto">
          <a:xfrm>
            <a:off x="1984324" y="3974528"/>
            <a:ext cx="871537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0" descr="Screen Clippi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6" t="34552" r="29733" b="34290"/>
          <a:stretch>
            <a:fillRect/>
          </a:stretch>
        </p:blipFill>
        <p:spPr bwMode="auto">
          <a:xfrm>
            <a:off x="1973211" y="5120703"/>
            <a:ext cx="882650" cy="118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1" descr="Screen Clippi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62" t="68073" r="29230"/>
          <a:stretch>
            <a:fillRect/>
          </a:stretch>
        </p:blipFill>
        <p:spPr bwMode="auto">
          <a:xfrm>
            <a:off x="5927622" y="3941075"/>
            <a:ext cx="80645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12" descr="Screen Clipping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3" t="34271" r="32877" b="34332"/>
          <a:stretch>
            <a:fillRect/>
          </a:stretch>
        </p:blipFill>
        <p:spPr bwMode="auto">
          <a:xfrm>
            <a:off x="5926086" y="2710878"/>
            <a:ext cx="82232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13" descr="Screen Clipping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69" t="68118" r="31737" b="751"/>
          <a:stretch>
            <a:fillRect/>
          </a:stretch>
        </p:blipFill>
        <p:spPr bwMode="auto">
          <a:xfrm>
            <a:off x="5934024" y="5112573"/>
            <a:ext cx="806450" cy="118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4"/>
          <p:cNvSpPr txBox="1">
            <a:spLocks noChangeArrowheads="1"/>
          </p:cNvSpPr>
          <p:nvPr/>
        </p:nvSpPr>
        <p:spPr bwMode="auto">
          <a:xfrm>
            <a:off x="1850974" y="2212403"/>
            <a:ext cx="479901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HK" altLang="en-US" sz="2400" dirty="0"/>
              <a:t>Six Major Areas:</a:t>
            </a:r>
            <a:endParaRPr lang="en-US" altLang="en-US" sz="2400" dirty="0"/>
          </a:p>
        </p:txBody>
      </p:sp>
      <p:sp>
        <p:nvSpPr>
          <p:cNvPr id="26" name="TextBox 15"/>
          <p:cNvSpPr txBox="1">
            <a:spLocks noChangeArrowheads="1"/>
          </p:cNvSpPr>
          <p:nvPr/>
        </p:nvSpPr>
        <p:spPr bwMode="auto">
          <a:xfrm>
            <a:off x="3000324" y="2683890"/>
            <a:ext cx="28908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HK" altLang="en-US" b="1" dirty="0">
                <a:solidFill>
                  <a:srgbClr val="FF00FF"/>
                </a:solidFill>
              </a:rPr>
              <a:t>Smart mobility </a:t>
            </a:r>
            <a:r>
              <a:rPr lang="zh-TW" altLang="en-US" b="1" dirty="0">
                <a:solidFill>
                  <a:srgbClr val="FF00FF"/>
                </a:solidFill>
              </a:rPr>
              <a:t>智慧出行</a:t>
            </a:r>
            <a:endParaRPr lang="en-HK" altLang="zh-TW" b="1" dirty="0">
              <a:solidFill>
                <a:srgbClr val="FF00FF"/>
              </a:solidFill>
            </a:endParaRPr>
          </a:p>
          <a:p>
            <a:r>
              <a:rPr lang="en-HK" altLang="en-US" sz="1600" dirty="0">
                <a:solidFill>
                  <a:srgbClr val="FF0000"/>
                </a:solidFill>
              </a:rPr>
              <a:t>(d)  Intelligent Transport System   and Traffic Management     </a:t>
            </a:r>
          </a:p>
          <a:p>
            <a:r>
              <a:rPr lang="zh-TW" altLang="en-US" sz="1600" dirty="0">
                <a:solidFill>
                  <a:srgbClr val="FF0000"/>
                </a:solidFill>
              </a:rPr>
              <a:t>智能運輸系統及交通管理</a:t>
            </a:r>
            <a:endParaRPr lang="en-HK" altLang="en-US" sz="1600" dirty="0">
              <a:solidFill>
                <a:srgbClr val="FF0000"/>
              </a:solidFill>
            </a:endParaRPr>
          </a:p>
          <a:p>
            <a:endParaRPr lang="en-US" altLang="en-US" dirty="0"/>
          </a:p>
        </p:txBody>
      </p:sp>
      <p:sp>
        <p:nvSpPr>
          <p:cNvPr id="27" name="TextBox 16"/>
          <p:cNvSpPr txBox="1">
            <a:spLocks noChangeArrowheads="1"/>
          </p:cNvSpPr>
          <p:nvPr/>
        </p:nvSpPr>
        <p:spPr bwMode="auto">
          <a:xfrm>
            <a:off x="3000324" y="4198365"/>
            <a:ext cx="28797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HK" altLang="en-US"/>
              <a:t>Smart living </a:t>
            </a:r>
            <a:r>
              <a:rPr lang="zh-TW" altLang="en-US"/>
              <a:t>智慧生活</a:t>
            </a:r>
            <a:endParaRPr lang="en-HK" altLang="en-US"/>
          </a:p>
          <a:p>
            <a:endParaRPr lang="en-US" altLang="en-US"/>
          </a:p>
        </p:txBody>
      </p:sp>
      <p:sp>
        <p:nvSpPr>
          <p:cNvPr id="28" name="TextBox 17"/>
          <p:cNvSpPr txBox="1">
            <a:spLocks noChangeArrowheads="1"/>
          </p:cNvSpPr>
          <p:nvPr/>
        </p:nvSpPr>
        <p:spPr bwMode="auto">
          <a:xfrm>
            <a:off x="3046361" y="5387403"/>
            <a:ext cx="21859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HK" altLang="en-US"/>
              <a:t>Smart environment </a:t>
            </a:r>
            <a:r>
              <a:rPr lang="zh-TW" altLang="en-US"/>
              <a:t>智慧環境</a:t>
            </a:r>
            <a:endParaRPr lang="en-HK" altLang="en-US"/>
          </a:p>
          <a:p>
            <a:endParaRPr lang="en-US" altLang="en-US"/>
          </a:p>
        </p:txBody>
      </p:sp>
      <p:sp>
        <p:nvSpPr>
          <p:cNvPr id="29" name="TextBox 18"/>
          <p:cNvSpPr txBox="1">
            <a:spLocks noChangeArrowheads="1"/>
          </p:cNvSpPr>
          <p:nvPr/>
        </p:nvSpPr>
        <p:spPr bwMode="auto">
          <a:xfrm>
            <a:off x="6797624" y="4138040"/>
            <a:ext cx="2157412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HK" altLang="en-US"/>
              <a:t>Smart government </a:t>
            </a:r>
            <a:r>
              <a:rPr lang="zh-TW" altLang="en-US"/>
              <a:t>智慧政府 </a:t>
            </a:r>
            <a:endParaRPr lang="en-HK" altLang="en-US"/>
          </a:p>
          <a:p>
            <a:endParaRPr lang="en-US" altLang="en-US"/>
          </a:p>
        </p:txBody>
      </p:sp>
      <p:sp>
        <p:nvSpPr>
          <p:cNvPr id="30" name="TextBox 19"/>
          <p:cNvSpPr txBox="1">
            <a:spLocks noChangeArrowheads="1"/>
          </p:cNvSpPr>
          <p:nvPr/>
        </p:nvSpPr>
        <p:spPr bwMode="auto">
          <a:xfrm>
            <a:off x="6784924" y="5347715"/>
            <a:ext cx="18319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HK" altLang="en-US"/>
              <a:t>Smart economic </a:t>
            </a:r>
            <a:r>
              <a:rPr lang="zh-TW" altLang="en-US"/>
              <a:t>智慧經濟</a:t>
            </a:r>
            <a:endParaRPr lang="en-HK" altLang="en-US"/>
          </a:p>
          <a:p>
            <a:endParaRPr lang="en-US" altLang="en-US"/>
          </a:p>
        </p:txBody>
      </p:sp>
      <p:sp>
        <p:nvSpPr>
          <p:cNvPr id="31" name="TextBox 20"/>
          <p:cNvSpPr txBox="1">
            <a:spLocks noChangeArrowheads="1"/>
          </p:cNvSpPr>
          <p:nvPr/>
        </p:nvSpPr>
        <p:spPr bwMode="auto">
          <a:xfrm>
            <a:off x="6789623" y="2825917"/>
            <a:ext cx="2879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HK" altLang="en-US" dirty="0"/>
              <a:t>Smart people </a:t>
            </a:r>
            <a:r>
              <a:rPr lang="zh-TW" altLang="en-US" dirty="0"/>
              <a:t>智慧市民</a:t>
            </a:r>
            <a:endParaRPr lang="en-HK" altLang="en-US" dirty="0"/>
          </a:p>
          <a:p>
            <a:endParaRPr lang="en-US" altLang="en-US" dirty="0"/>
          </a:p>
        </p:txBody>
      </p:sp>
      <p:pic>
        <p:nvPicPr>
          <p:cNvPr id="32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293" y="408537"/>
            <a:ext cx="1861013" cy="207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22"/>
          <p:cNvSpPr txBox="1"/>
          <p:nvPr/>
        </p:nvSpPr>
        <p:spPr>
          <a:xfrm>
            <a:off x="9317154" y="2482453"/>
            <a:ext cx="25654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dirty="0">
                <a:solidFill>
                  <a:srgbClr val="0000FF"/>
                </a:solidFill>
                <a:latin typeface="+mn-lt"/>
                <a:ea typeface="AECOM Sans" panose="020B0504020202020204" pitchFamily="34" charset="0"/>
                <a:cs typeface="AECOM Sans" panose="020B0504020202020204" pitchFamily="34" charset="0"/>
              </a:rPr>
              <a:t>December 2017</a:t>
            </a:r>
          </a:p>
        </p:txBody>
      </p:sp>
    </p:spTree>
    <p:extLst>
      <p:ext uri="{BB962C8B-B14F-4D97-AF65-F5344CB8AC3E}">
        <p14:creationId xmlns:p14="http://schemas.microsoft.com/office/powerpoint/2010/main" val="396815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Background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 descr="Transport Department - All-in-one Mobile Application &quot;HKeMobility&quot;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114" y="140836"/>
            <a:ext cx="4989151" cy="24361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838200" y="2790228"/>
            <a:ext cx="867987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One of the </a:t>
            </a:r>
            <a:r>
              <a:rPr lang="en-US" sz="2000" dirty="0">
                <a:solidFill>
                  <a:srgbClr val="FF00FF"/>
                </a:solidFill>
              </a:rPr>
              <a:t>smart mobility initiatives </a:t>
            </a:r>
            <a:r>
              <a:rPr lang="en-US" sz="2000" dirty="0"/>
              <a:t>is to install about 1200 traffic detectors on all strategic routes to provide real-time traffic information to the public via “</a:t>
            </a:r>
            <a:r>
              <a:rPr lang="en-US" sz="2000" dirty="0" err="1"/>
              <a:t>HKeMobility</a:t>
            </a:r>
            <a:r>
              <a:rPr lang="en-US" sz="2000" dirty="0"/>
              <a:t>” mobile app</a:t>
            </a:r>
            <a:endParaRPr lang="en-HK" altLang="zh-TW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HK" altLang="zh-TW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HK" altLang="zh-TW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HK" altLang="zh-TW" sz="2000" dirty="0"/>
              <a:t>The major project objective is to </a:t>
            </a:r>
            <a:r>
              <a:rPr lang="en-HK" altLang="zh-TW" sz="2000" dirty="0">
                <a:solidFill>
                  <a:srgbClr val="FF0000"/>
                </a:solidFill>
              </a:rPr>
              <a:t>estimate average speeds on the strategic routes based on the segments of Intelligent Road Network (IRN) at 2-minute time interval</a:t>
            </a:r>
            <a:r>
              <a:rPr lang="en-HK" altLang="zh-TW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425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TD57/93 Data Flow Diagram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372" y="1155469"/>
            <a:ext cx="7388469" cy="50962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380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TD57 </a:t>
            </a:r>
            <a:r>
              <a:rPr lang="en-US" altLang="zh-TW" dirty="0"/>
              <a:t>– Total 454 AIDs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329196" y="1466399"/>
            <a:ext cx="7086834" cy="4539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630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TD57 – Total 70 BTs (171 BT pairs)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734" y="1466399"/>
            <a:ext cx="7457902" cy="44878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460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TD57 – </a:t>
            </a:r>
            <a:r>
              <a:rPr lang="en-US" dirty="0" err="1"/>
              <a:t>BlueARGUS</a:t>
            </a:r>
            <a:r>
              <a:rPr lang="en-US" dirty="0"/>
              <a:t> (For BT only)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121" y="1466398"/>
            <a:ext cx="4213680" cy="46289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內容版面配置區 7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34" y="1466399"/>
            <a:ext cx="4299065" cy="46289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570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TD57 – </a:t>
            </a:r>
            <a:r>
              <a:rPr lang="en-US" dirty="0" err="1"/>
              <a:t>BlueARGUS</a:t>
            </a:r>
            <a:r>
              <a:rPr lang="en-US" dirty="0"/>
              <a:t> (For BT only)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851473" y="1769427"/>
            <a:ext cx="7238709" cy="36837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103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TD93 </a:t>
            </a:r>
            <a:r>
              <a:rPr lang="en-US" altLang="zh-TW" dirty="0"/>
              <a:t>– Total 367 AIDs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165798" y="1304585"/>
            <a:ext cx="6988047" cy="47470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622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TD93 – Total 263 BTs (638 BT pairs)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965" y="1325083"/>
            <a:ext cx="7169383" cy="49260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264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TD93 – </a:t>
            </a:r>
            <a:r>
              <a:rPr lang="en-US" sz="3600" dirty="0" err="1"/>
              <a:t>Trafficnow</a:t>
            </a:r>
            <a:r>
              <a:rPr lang="en-US" sz="3600" dirty="0"/>
              <a:t> (</a:t>
            </a:r>
            <a:r>
              <a:rPr lang="en-US" sz="3600" dirty="0" err="1"/>
              <a:t>DeepBlue</a:t>
            </a:r>
            <a:r>
              <a:rPr lang="en-US" sz="3600" dirty="0"/>
              <a:t>) (For BT only)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98765" y="1653048"/>
            <a:ext cx="3840216" cy="33825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241" y="1653047"/>
            <a:ext cx="7230875" cy="33825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897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functions of CCS: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850850" y="1466399"/>
            <a:ext cx="8787080" cy="44235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325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Locate </a:t>
            </a:r>
            <a:r>
              <a:rPr lang="en-US" dirty="0"/>
              <a:t>AID/ BT/ Toll </a:t>
            </a:r>
            <a:r>
              <a:rPr lang="en-US" dirty="0" smtClean="0"/>
              <a:t>Point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829149" y="1466399"/>
            <a:ext cx="8830482" cy="44152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749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Real </a:t>
            </a:r>
            <a:r>
              <a:rPr lang="en-US" dirty="0"/>
              <a:t>time AID/BT data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636245" y="1296785"/>
            <a:ext cx="9216289" cy="46154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515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Toll </a:t>
            </a:r>
            <a:r>
              <a:rPr lang="en-US" dirty="0" smtClean="0"/>
              <a:t>point data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988446" y="1669676"/>
            <a:ext cx="8511888" cy="42850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310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770611" y="1466399"/>
            <a:ext cx="8914354" cy="44688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3. Real </a:t>
            </a:r>
            <a:r>
              <a:rPr lang="en-US" sz="4000" dirty="0"/>
              <a:t>time traffic speed (</a:t>
            </a:r>
            <a:r>
              <a:rPr lang="en-US" sz="4000" dirty="0" err="1"/>
              <a:t>HKeMobility</a:t>
            </a:r>
            <a:r>
              <a:rPr lang="en-US" sz="4000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3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173539" y="1761115"/>
            <a:ext cx="8141702" cy="40411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HKeMobility</a:t>
            </a:r>
            <a:r>
              <a:rPr lang="en-US" sz="3200" dirty="0"/>
              <a:t> – Share same data source with CCS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8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Report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259374" y="1810992"/>
            <a:ext cx="7970032" cy="39912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594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986590" y="352637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Checking the latest or past data (speed) of IRN/BT/AID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/>
              <a:t>AID</a:t>
            </a:r>
            <a:r>
              <a:rPr lang="en-US" sz="2800" dirty="0"/>
              <a:t>: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09" y="1193860"/>
            <a:ext cx="8725522" cy="43673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866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Bluetooth: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787552" y="1345480"/>
            <a:ext cx="8915734" cy="44484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838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 Segment (IRN)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886496" y="1466399"/>
            <a:ext cx="8715788" cy="43487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358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Currently total 5693 IRNs on use (update continuously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ꟷꟷꟷ </a:t>
            </a:r>
            <a:r>
              <a:rPr lang="en-US" dirty="0" smtClean="0">
                <a:solidFill>
                  <a:srgbClr val="FF0000"/>
                </a:solidFill>
              </a:rPr>
              <a:t>Centerline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ꟷꟷꟷ IRN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IRN (Intelligent Road Network)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353" y="2521528"/>
            <a:ext cx="6076604" cy="34723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702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IRN calculation workflow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746048" y="1278977"/>
            <a:ext cx="6996683" cy="48767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60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AID detectors: </a:t>
            </a:r>
          </a:p>
          <a:p>
            <a:r>
              <a:rPr lang="en-US" sz="2400" dirty="0" smtClean="0"/>
              <a:t>Spot </a:t>
            </a:r>
            <a:r>
              <a:rPr lang="en-US" sz="2400" dirty="0"/>
              <a:t>speed of individual vehicle &amp; vehicle counts</a:t>
            </a:r>
          </a:p>
          <a:p>
            <a:r>
              <a:rPr lang="en-US" sz="2400" dirty="0"/>
              <a:t> 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IRN with AID Data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5" name="Picture 64" descr="C:\Users\CEE\Pictures\AID09255_20190310_1440_1559_Moment (2)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078" y="1906818"/>
            <a:ext cx="3480797" cy="30060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841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AID Data cleansing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內容版面配置區 2"/>
          <p:cNvSpPr>
            <a:spLocks noGrp="1"/>
          </p:cNvSpPr>
          <p:nvPr>
            <p:ph sz="quarter" idx="14"/>
          </p:nvPr>
        </p:nvSpPr>
        <p:spPr>
          <a:xfrm>
            <a:off x="755073" y="1179436"/>
            <a:ext cx="10432312" cy="3318097"/>
          </a:xfrm>
        </p:spPr>
        <p:txBody>
          <a:bodyPr>
            <a:noAutofit/>
          </a:bodyPr>
          <a:lstStyle/>
          <a:p>
            <a:r>
              <a:rPr lang="en-US" sz="2000" dirty="0" smtClean="0"/>
              <a:t>Clean the spot speeds of individual vehicles collected by AID detector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- To eliminate unreasonable speeding data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validated spot speed data of individual vehicles collected in every 2 minutes will then be </a:t>
            </a:r>
            <a:r>
              <a:rPr lang="en-US" sz="2000" dirty="0" smtClean="0"/>
              <a:t>used </a:t>
            </a:r>
            <a:r>
              <a:rPr lang="en-US" sz="2000" dirty="0"/>
              <a:t>to calculate the average spot speed (i.e. time mean speed) in that 2-min time interval. 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7720"/>
            <a:ext cx="5832504" cy="3092680"/>
          </a:xfrm>
          <a:prstGeom prst="rect">
            <a:avLst/>
          </a:prstGeom>
        </p:spPr>
      </p:pic>
      <p:sp>
        <p:nvSpPr>
          <p:cNvPr id="10" name="TextBox 23"/>
          <p:cNvSpPr txBox="1"/>
          <p:nvPr/>
        </p:nvSpPr>
        <p:spPr>
          <a:xfrm>
            <a:off x="7343948" y="2073676"/>
            <a:ext cx="2933700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HK" sz="2200" dirty="0"/>
              <a:t>Example:</a:t>
            </a:r>
          </a:p>
          <a:p>
            <a:endParaRPr lang="en-HK" sz="2200" dirty="0"/>
          </a:p>
          <a:p>
            <a:r>
              <a:rPr lang="en-HK" sz="2200" dirty="0"/>
              <a:t>Speed limit = 80 km/h</a:t>
            </a:r>
          </a:p>
          <a:p>
            <a:endParaRPr lang="en-HK" sz="2200" dirty="0"/>
          </a:p>
          <a:p>
            <a:r>
              <a:rPr lang="en-HK" sz="2200" dirty="0"/>
              <a:t>Speed &gt; (1+</a:t>
            </a:r>
            <a:r>
              <a:rPr lang="en-HK" i="1" dirty="0">
                <a:sym typeface="Symbol" panose="05050102010706020507" pitchFamily="18" charset="2"/>
              </a:rPr>
              <a:t> </a:t>
            </a:r>
            <a:r>
              <a:rPr lang="en-HK" sz="2200" i="1" dirty="0">
                <a:sym typeface="Symbol" panose="05050102010706020507" pitchFamily="18" charset="2"/>
              </a:rPr>
              <a:t></a:t>
            </a:r>
            <a:r>
              <a:rPr lang="en-HK" dirty="0"/>
              <a:t> </a:t>
            </a:r>
            <a:r>
              <a:rPr lang="en-HK" sz="2200" dirty="0"/>
              <a:t>%) of speed limit (say, </a:t>
            </a:r>
            <a:r>
              <a:rPr lang="en-HK" sz="2200" i="1" dirty="0">
                <a:sym typeface="Symbol" panose="05050102010706020507" pitchFamily="18" charset="2"/>
              </a:rPr>
              <a:t></a:t>
            </a:r>
            <a:r>
              <a:rPr lang="en-HK" sz="2200" dirty="0">
                <a:sym typeface="Symbol" panose="05050102010706020507" pitchFamily="18" charset="2"/>
              </a:rPr>
              <a:t> =10) </a:t>
            </a:r>
            <a:r>
              <a:rPr lang="en-HK" sz="2200" dirty="0"/>
              <a:t>will be screened out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7107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AID Data calibration (Time mean speed </a:t>
            </a:r>
            <a:r>
              <a:rPr lang="en-US" sz="2400" dirty="0">
                <a:sym typeface="Wingdings" panose="05000000000000000000" pitchFamily="2" charset="2"/>
              </a:rPr>
              <a:t> space mean speed)</a:t>
            </a:r>
            <a:endParaRPr 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838200" y="1112934"/>
                <a:ext cx="10432312" cy="3318097"/>
              </a:xfrm>
            </p:spPr>
            <p:txBody>
              <a:bodyPr/>
              <a:lstStyle/>
              <a:p>
                <a:r>
                  <a:rPr lang="en-HK" sz="2400" dirty="0" smtClean="0"/>
                  <a:t>Calibrate </a:t>
                </a:r>
                <a:r>
                  <a:rPr lang="en-HK" sz="2400" dirty="0"/>
                  <a:t>the average spot speeds (i.e. </a:t>
                </a:r>
                <a:r>
                  <a:rPr lang="en-HK" sz="2400" dirty="0">
                    <a:solidFill>
                      <a:srgbClr val="CC00CC"/>
                    </a:solidFill>
                  </a:rPr>
                  <a:t>time mean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2400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2400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HK" sz="2400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HK" sz="2400" dirty="0" smtClean="0"/>
                  <a:t>) at 2-min </a:t>
                </a:r>
                <a:r>
                  <a:rPr lang="en-HK" sz="2400" dirty="0"/>
                  <a:t>interval based on </a:t>
                </a:r>
                <a:r>
                  <a:rPr lang="en-HK" sz="2400" dirty="0" smtClean="0"/>
                  <a:t>the </a:t>
                </a:r>
                <a:r>
                  <a:rPr lang="en-HK" sz="2400" dirty="0">
                    <a:solidFill>
                      <a:srgbClr val="FF0000"/>
                    </a:solidFill>
                  </a:rPr>
                  <a:t>actual</a:t>
                </a:r>
                <a:r>
                  <a:rPr lang="en-HK" sz="2400" dirty="0"/>
                  <a:t> </a:t>
                </a:r>
                <a:r>
                  <a:rPr lang="en-HK" sz="2400" dirty="0">
                    <a:solidFill>
                      <a:srgbClr val="00B050"/>
                    </a:solidFill>
                  </a:rPr>
                  <a:t>space mean </a:t>
                </a:r>
                <a:r>
                  <a:rPr lang="en-HK" sz="2400" dirty="0" smtClean="0">
                    <a:solidFill>
                      <a:srgbClr val="00B050"/>
                    </a:solidFill>
                  </a:rPr>
                  <a:t>speed </a:t>
                </a:r>
                <a:r>
                  <a:rPr lang="en-HK" sz="2400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HK" sz="2400" i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HK" sz="2400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HK" sz="2400" dirty="0" smtClean="0"/>
                  <a:t>by </a:t>
                </a:r>
                <a:r>
                  <a:rPr lang="en-HK" sz="2400" dirty="0"/>
                  <a:t>manual </a:t>
                </a:r>
                <a:r>
                  <a:rPr lang="en-HK" sz="2400" dirty="0" smtClean="0"/>
                  <a:t>measurement </a:t>
                </a:r>
                <a:r>
                  <a:rPr lang="en-HK" sz="1600" dirty="0" smtClean="0"/>
                  <a:t>-- from the video recodes of some AID detectors with typical detection zones</a:t>
                </a:r>
                <a:endParaRPr lang="en-HK" sz="1600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838200" y="1112934"/>
                <a:ext cx="10432312" cy="3318097"/>
              </a:xfrm>
              <a:blipFill>
                <a:blip r:embed="rId2"/>
                <a:stretch>
                  <a:fillRect l="-935" t="-2390" r="-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3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332" y="2163078"/>
            <a:ext cx="4000563" cy="3189617"/>
          </a:xfrm>
          <a:prstGeom prst="rect">
            <a:avLst/>
          </a:prstGeom>
          <a:noFill/>
        </p:spPr>
      </p:pic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494663" y="2655401"/>
            <a:ext cx="1467665" cy="685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i="1" dirty="0">
                <a:solidFill>
                  <a:srgbClr val="008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v</a:t>
            </a:r>
            <a:r>
              <a:rPr lang="en-US" i="1" baseline="-2500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= 0.9554</a:t>
            </a:r>
            <a:r>
              <a:rPr lang="en-US" i="1" dirty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u</a:t>
            </a:r>
            <a:r>
              <a:rPr lang="en-US" i="1" baseline="-25000" dirty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t</a:t>
            </a:r>
            <a:endParaRPr lang="en-US" dirty="0">
              <a:solidFill>
                <a:srgbClr val="FF00FF"/>
              </a:solidFill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rPr>
              <a:t>R</a:t>
            </a:r>
            <a:r>
              <a:rPr lang="en-US" baseline="30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rPr>
              <a:t> = 0.991</a:t>
            </a:r>
            <a:endParaRPr lang="en-US" dirty="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14292" y="5433020"/>
            <a:ext cx="4380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dirty="0"/>
              <a:t>Differences between </a:t>
            </a:r>
            <a:r>
              <a:rPr lang="en-HK" dirty="0">
                <a:solidFill>
                  <a:srgbClr val="CC00CC"/>
                </a:solidFill>
              </a:rPr>
              <a:t>time mean speed</a:t>
            </a:r>
            <a:r>
              <a:rPr lang="en-HK" dirty="0">
                <a:solidFill>
                  <a:srgbClr val="C00000"/>
                </a:solidFill>
              </a:rPr>
              <a:t> </a:t>
            </a:r>
            <a:r>
              <a:rPr lang="en-HK" dirty="0">
                <a:solidFill>
                  <a:srgbClr val="FF00FF"/>
                </a:solidFill>
              </a:rPr>
              <a:t>(</a:t>
            </a:r>
            <a:r>
              <a:rPr lang="en-HK" i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HK" i="1" baseline="-25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HK" dirty="0">
                <a:solidFill>
                  <a:srgbClr val="FF00FF"/>
                </a:solidFill>
              </a:rPr>
              <a:t>) </a:t>
            </a:r>
            <a:r>
              <a:rPr lang="en-HK" dirty="0"/>
              <a:t>and </a:t>
            </a:r>
            <a:r>
              <a:rPr lang="en-HK" dirty="0">
                <a:solidFill>
                  <a:srgbClr val="FF0000"/>
                </a:solidFill>
              </a:rPr>
              <a:t>actual</a:t>
            </a:r>
            <a:r>
              <a:rPr lang="en-HK" dirty="0">
                <a:solidFill>
                  <a:srgbClr val="C00000"/>
                </a:solidFill>
              </a:rPr>
              <a:t> </a:t>
            </a:r>
            <a:r>
              <a:rPr lang="en-HK" dirty="0">
                <a:solidFill>
                  <a:srgbClr val="00B050"/>
                </a:solidFill>
              </a:rPr>
              <a:t>space mean speed (</a:t>
            </a:r>
            <a:r>
              <a:rPr lang="en-HK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HK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HK" dirty="0">
                <a:solidFill>
                  <a:srgbClr val="00B050"/>
                </a:solidFill>
              </a:rPr>
              <a:t>) </a:t>
            </a:r>
            <a:r>
              <a:rPr lang="en-HK" dirty="0"/>
              <a:t>from manual measurement</a:t>
            </a:r>
            <a:endParaRPr lang="en-US" dirty="0"/>
          </a:p>
        </p:txBody>
      </p:sp>
      <p:sp>
        <p:nvSpPr>
          <p:cNvPr id="12" name="TextBox 8"/>
          <p:cNvSpPr txBox="1"/>
          <p:nvPr/>
        </p:nvSpPr>
        <p:spPr>
          <a:xfrm>
            <a:off x="6476759" y="2081837"/>
            <a:ext cx="42322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2000" u="sng" dirty="0">
                <a:solidFill>
                  <a:srgbClr val="0000FF"/>
                </a:solidFill>
              </a:rPr>
              <a:t>Standardized length</a:t>
            </a:r>
            <a:r>
              <a:rPr lang="en-HK" sz="2000" dirty="0">
                <a:solidFill>
                  <a:srgbClr val="0000FF"/>
                </a:solidFill>
              </a:rPr>
              <a:t> of detection zones (say, </a:t>
            </a:r>
            <a:r>
              <a:rPr lang="en-HK" sz="20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12m</a:t>
            </a:r>
            <a:r>
              <a:rPr lang="en-HK" sz="2000" dirty="0">
                <a:solidFill>
                  <a:srgbClr val="0000FF"/>
                </a:solidFill>
              </a:rPr>
              <a:t>) is required to </a:t>
            </a:r>
            <a:r>
              <a:rPr lang="en-HK" sz="2000" b="1" dirty="0">
                <a:solidFill>
                  <a:srgbClr val="0000FF"/>
                </a:solidFill>
              </a:rPr>
              <a:t>facilitate the calibration work for different sites</a:t>
            </a:r>
            <a:endParaRPr lang="en-US" sz="2000" b="1" dirty="0">
              <a:solidFill>
                <a:srgbClr val="0000FF"/>
              </a:solidFill>
            </a:endParaRPr>
          </a:p>
        </p:txBody>
      </p:sp>
      <p:pic>
        <p:nvPicPr>
          <p:cNvPr id="13" name="Picture 25" descr="C:\Users\CEE\Pictures\AID09255_20190310_1440_1559_Moment (2)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238" y="3069178"/>
            <a:ext cx="3038838" cy="258673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24"/>
          <p:cNvSpPr txBox="1"/>
          <p:nvPr/>
        </p:nvSpPr>
        <p:spPr>
          <a:xfrm>
            <a:off x="6755224" y="5641034"/>
            <a:ext cx="3810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600" dirty="0"/>
              <a:t>Calibration is based on the time mean speeds on the </a:t>
            </a:r>
            <a:r>
              <a:rPr lang="en-HK" sz="1600" b="1" u="sng" dirty="0"/>
              <a:t>corresponding traffic lanes</a:t>
            </a:r>
            <a:r>
              <a:rPr lang="en-HK" sz="1600" u="sng" dirty="0"/>
              <a:t> </a:t>
            </a:r>
            <a:r>
              <a:rPr lang="en-HK" sz="1600" dirty="0"/>
              <a:t>of the associated IRN segments</a:t>
            </a:r>
            <a:endParaRPr lang="en-US" sz="1600" dirty="0"/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 rot="19506670">
            <a:off x="7246813" y="3900203"/>
            <a:ext cx="933450" cy="310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Space speed</a:t>
            </a:r>
            <a:endParaRPr lang="en-US" sz="1100" dirty="0">
              <a:solidFill>
                <a:srgbClr val="00FF00"/>
              </a:solidFill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8" name="Left Brace 37"/>
          <p:cNvSpPr/>
          <p:nvPr/>
        </p:nvSpPr>
        <p:spPr>
          <a:xfrm rot="3237084">
            <a:off x="7725181" y="3740002"/>
            <a:ext cx="159940" cy="966176"/>
          </a:xfrm>
          <a:prstGeom prst="leftBrace">
            <a:avLst>
              <a:gd name="adj1" fmla="val 8333"/>
              <a:gd name="adj2" fmla="val 49226"/>
            </a:avLst>
          </a:prstGeom>
          <a:ln w="127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9" name="Straight Arrow Connector 32"/>
          <p:cNvCxnSpPr/>
          <p:nvPr/>
        </p:nvCxnSpPr>
        <p:spPr>
          <a:xfrm flipV="1">
            <a:off x="7547471" y="3964586"/>
            <a:ext cx="827975" cy="720084"/>
          </a:xfrm>
          <a:prstGeom prst="straightConnector1">
            <a:avLst/>
          </a:prstGeom>
          <a:ln w="127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5"/>
          <p:cNvCxnSpPr/>
          <p:nvPr/>
        </p:nvCxnSpPr>
        <p:spPr>
          <a:xfrm flipV="1">
            <a:off x="6976212" y="3057539"/>
            <a:ext cx="2524276" cy="219752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8267630" y="3452922"/>
            <a:ext cx="829140" cy="26862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Spot speed</a:t>
            </a:r>
            <a:endParaRPr lang="en-US" sz="1100" dirty="0">
              <a:solidFill>
                <a:srgbClr val="FF0000"/>
              </a:solidFill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35"/>
          <p:cNvCxnSpPr/>
          <p:nvPr/>
        </p:nvCxnSpPr>
        <p:spPr>
          <a:xfrm flipH="1">
            <a:off x="8461951" y="3680645"/>
            <a:ext cx="198755" cy="342900"/>
          </a:xfrm>
          <a:prstGeom prst="straightConnector1">
            <a:avLst/>
          </a:prstGeom>
          <a:ln w="9525">
            <a:solidFill>
              <a:srgbClr val="FF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7"/>
          <p:cNvCxnSpPr/>
          <p:nvPr/>
        </p:nvCxnSpPr>
        <p:spPr>
          <a:xfrm flipV="1">
            <a:off x="7794501" y="4017921"/>
            <a:ext cx="883979" cy="783966"/>
          </a:xfrm>
          <a:prstGeom prst="straightConnector1">
            <a:avLst/>
          </a:prstGeom>
          <a:ln w="127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2"/>
          <p:cNvSpPr txBox="1">
            <a:spLocks noChangeArrowheads="1"/>
          </p:cNvSpPr>
          <p:nvPr/>
        </p:nvSpPr>
        <p:spPr bwMode="auto">
          <a:xfrm rot="19122318">
            <a:off x="8090057" y="4236340"/>
            <a:ext cx="534670" cy="310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12 m</a:t>
            </a:r>
            <a:endParaRPr lang="en-US" sz="1100" dirty="0">
              <a:solidFill>
                <a:srgbClr val="0000FF"/>
              </a:solidFill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6"/>
          <p:cNvCxnSpPr/>
          <p:nvPr/>
        </p:nvCxnSpPr>
        <p:spPr>
          <a:xfrm flipV="1">
            <a:off x="8408111" y="4131342"/>
            <a:ext cx="709530" cy="913274"/>
          </a:xfrm>
          <a:prstGeom prst="straightConnector1">
            <a:avLst/>
          </a:prstGeom>
          <a:ln w="127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2"/>
          <p:cNvSpPr txBox="1">
            <a:spLocks noChangeArrowheads="1"/>
          </p:cNvSpPr>
          <p:nvPr/>
        </p:nvSpPr>
        <p:spPr bwMode="auto">
          <a:xfrm rot="18201659">
            <a:off x="8630101" y="4382034"/>
            <a:ext cx="534670" cy="310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12 m</a:t>
            </a:r>
            <a:endParaRPr lang="en-US" sz="1100" dirty="0">
              <a:solidFill>
                <a:srgbClr val="0000FF"/>
              </a:solidFill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0"/>
          <p:cNvCxnSpPr/>
          <p:nvPr/>
        </p:nvCxnSpPr>
        <p:spPr>
          <a:xfrm flipV="1">
            <a:off x="9225923" y="4244735"/>
            <a:ext cx="407218" cy="1040698"/>
          </a:xfrm>
          <a:prstGeom prst="straightConnector1">
            <a:avLst/>
          </a:prstGeom>
          <a:ln w="127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2"/>
          <p:cNvSpPr txBox="1">
            <a:spLocks noChangeArrowheads="1"/>
          </p:cNvSpPr>
          <p:nvPr/>
        </p:nvSpPr>
        <p:spPr bwMode="auto">
          <a:xfrm rot="17549150">
            <a:off x="9255702" y="4656908"/>
            <a:ext cx="477440" cy="26026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12 m</a:t>
            </a:r>
            <a:endParaRPr lang="en-US" sz="1100" dirty="0">
              <a:solidFill>
                <a:srgbClr val="0000FF"/>
              </a:solidFill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4" name="TextBox 4"/>
          <p:cNvSpPr txBox="1"/>
          <p:nvPr/>
        </p:nvSpPr>
        <p:spPr>
          <a:xfrm>
            <a:off x="10109175" y="4384721"/>
            <a:ext cx="1022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IRN segment</a:t>
            </a:r>
            <a:endParaRPr lang="en-US" dirty="0"/>
          </a:p>
        </p:txBody>
      </p:sp>
      <p:cxnSp>
        <p:nvCxnSpPr>
          <p:cNvPr id="35" name="Straight Connector 40"/>
          <p:cNvCxnSpPr/>
          <p:nvPr/>
        </p:nvCxnSpPr>
        <p:spPr>
          <a:xfrm flipV="1">
            <a:off x="7660556" y="3074050"/>
            <a:ext cx="2148421" cy="2627455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23"/>
          <p:cNvCxnSpPr/>
          <p:nvPr/>
        </p:nvCxnSpPr>
        <p:spPr>
          <a:xfrm flipV="1">
            <a:off x="8155658" y="3027908"/>
            <a:ext cx="1768576" cy="2650829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41"/>
          <p:cNvCxnSpPr/>
          <p:nvPr/>
        </p:nvCxnSpPr>
        <p:spPr>
          <a:xfrm flipH="1" flipV="1">
            <a:off x="9547339" y="3584400"/>
            <a:ext cx="546464" cy="1010179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42"/>
          <p:cNvCxnSpPr/>
          <p:nvPr/>
        </p:nvCxnSpPr>
        <p:spPr>
          <a:xfrm flipH="1" flipV="1">
            <a:off x="9171360" y="3442777"/>
            <a:ext cx="912417" cy="114029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7"/>
          <p:cNvCxnSpPr/>
          <p:nvPr/>
        </p:nvCxnSpPr>
        <p:spPr>
          <a:xfrm flipH="1" flipV="1">
            <a:off x="9194991" y="3698845"/>
            <a:ext cx="851657" cy="84859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02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/>
      <p:bldP spid="11" grpId="0"/>
      <p:bldP spid="12" grpId="0"/>
      <p:bldP spid="14" grpId="0"/>
      <p:bldP spid="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Noted that AID detectors capture the </a:t>
            </a:r>
            <a:r>
              <a:rPr lang="en-US" dirty="0">
                <a:solidFill>
                  <a:srgbClr val="FF0000"/>
                </a:solidFill>
              </a:rPr>
              <a:t>spot speeds </a:t>
            </a:r>
            <a:r>
              <a:rPr lang="en-US" dirty="0"/>
              <a:t>by traffic lane by direction. Thus, the </a:t>
            </a:r>
            <a:r>
              <a:rPr lang="en-US" dirty="0">
                <a:solidFill>
                  <a:srgbClr val="00B0F0"/>
                </a:solidFill>
              </a:rPr>
              <a:t>space mean speeds</a:t>
            </a:r>
            <a:r>
              <a:rPr lang="en-US" dirty="0"/>
              <a:t> will be calibrated based on the </a:t>
            </a:r>
            <a:r>
              <a:rPr lang="en-US" dirty="0">
                <a:solidFill>
                  <a:srgbClr val="FF0000"/>
                </a:solidFill>
              </a:rPr>
              <a:t>time mean speeds</a:t>
            </a:r>
            <a:r>
              <a:rPr lang="en-US" dirty="0"/>
              <a:t> on the corresponding traffic lanes of the associated IRN segments.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 Fusion For Estimating Average Speeds on IRN Segments per Bound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0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72440" y="1221491"/>
            <a:ext cx="3933305" cy="1325563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Data Fusion For Estimating Average Speeds on IRN Segments per Bound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內容版面配置區 3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114024" y="545711"/>
            <a:ext cx="5329766" cy="561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2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IRN with Bluetooth Data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HK" dirty="0"/>
              <a:t>Bluetooth (</a:t>
            </a:r>
            <a:r>
              <a:rPr lang="en-HK" dirty="0">
                <a:solidFill>
                  <a:srgbClr val="0000FF"/>
                </a:solidFill>
              </a:rPr>
              <a:t>BT</a:t>
            </a:r>
            <a:r>
              <a:rPr lang="en-HK" dirty="0"/>
              <a:t>) detectors: Travel time between two BT detectors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/>
        </p:nvCxnSpPr>
        <p:spPr bwMode="auto">
          <a:xfrm>
            <a:off x="2555560" y="3267021"/>
            <a:ext cx="5562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1570517" y="3341961"/>
            <a:ext cx="1676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zh-TW" sz="1600" dirty="0"/>
              <a:t>MAC address: 00:11:22:33:FF:EE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600" dirty="0"/>
              <a:t>10:32:00am</a:t>
            </a:r>
            <a:endParaRPr lang="zh-TW" altLang="en-US" sz="1600" dirty="0"/>
          </a:p>
        </p:txBody>
      </p: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7579203" y="3314646"/>
            <a:ext cx="1676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600"/>
              <a:t>MAC address: 00:11:22:33:FF:EE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600"/>
              <a:t>10:38:00am </a:t>
            </a:r>
            <a:endParaRPr lang="zh-TW" altLang="en-US" sz="1600"/>
          </a:p>
        </p:txBody>
      </p:sp>
      <p:grpSp>
        <p:nvGrpSpPr>
          <p:cNvPr id="9" name="Group 5"/>
          <p:cNvGrpSpPr/>
          <p:nvPr/>
        </p:nvGrpSpPr>
        <p:grpSpPr>
          <a:xfrm>
            <a:off x="2466345" y="3524196"/>
            <a:ext cx="5699959" cy="400050"/>
            <a:chOff x="2418200" y="4406729"/>
            <a:chExt cx="5699959" cy="400050"/>
          </a:xfrm>
        </p:grpSpPr>
        <p:cxnSp>
          <p:nvCxnSpPr>
            <p:cNvPr id="10" name="Straight Arrow Connector 11"/>
            <p:cNvCxnSpPr/>
            <p:nvPr/>
          </p:nvCxnSpPr>
          <p:spPr bwMode="auto">
            <a:xfrm>
              <a:off x="2418200" y="4749629"/>
              <a:ext cx="5699959" cy="1587"/>
            </a:xfrm>
            <a:prstGeom prst="straightConnector1">
              <a:avLst/>
            </a:prstGeom>
            <a:ln w="19050">
              <a:solidFill>
                <a:srgbClr val="0000FF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23"/>
            <p:cNvSpPr txBox="1">
              <a:spLocks noChangeArrowheads="1"/>
            </p:cNvSpPr>
            <p:nvPr/>
          </p:nvSpPr>
          <p:spPr bwMode="auto">
            <a:xfrm>
              <a:off x="3051529" y="4406729"/>
              <a:ext cx="4433301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2000" dirty="0">
                  <a:solidFill>
                    <a:srgbClr val="FF0000"/>
                  </a:solidFill>
                </a:rPr>
                <a:t>Travel time between A and B = 6 min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26"/>
          <p:cNvSpPr txBox="1">
            <a:spLocks noChangeArrowheads="1"/>
          </p:cNvSpPr>
          <p:nvPr/>
        </p:nvSpPr>
        <p:spPr bwMode="auto">
          <a:xfrm>
            <a:off x="2261873" y="3114621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8070535" y="3090808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304" y="2605855"/>
            <a:ext cx="502198" cy="462087"/>
          </a:xfrm>
          <a:prstGeom prst="rect">
            <a:avLst/>
          </a:prstGeom>
        </p:spPr>
      </p:pic>
      <p:pic>
        <p:nvPicPr>
          <p:cNvPr id="15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46966" y="2628721"/>
            <a:ext cx="461751" cy="462087"/>
          </a:xfrm>
          <a:prstGeom prst="rect">
            <a:avLst/>
          </a:prstGeom>
        </p:spPr>
      </p:pic>
      <p:pic>
        <p:nvPicPr>
          <p:cNvPr id="16" name="Picture 3" descr="j039487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498" y="2976508"/>
            <a:ext cx="900112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4"/>
          <p:cNvSpPr txBox="1"/>
          <p:nvPr/>
        </p:nvSpPr>
        <p:spPr>
          <a:xfrm>
            <a:off x="1570517" y="4906228"/>
            <a:ext cx="8635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Note that the measured travel time would be the actual travel time for the </a:t>
            </a:r>
            <a:r>
              <a:rPr lang="en-US" sz="2000" b="1" dirty="0">
                <a:solidFill>
                  <a:srgbClr val="FF0000"/>
                </a:solidFill>
              </a:rPr>
              <a:t>completed journey </a:t>
            </a:r>
            <a:r>
              <a:rPr lang="en-US" sz="2000" dirty="0">
                <a:solidFill>
                  <a:srgbClr val="FF0000"/>
                </a:solidFill>
              </a:rPr>
              <a:t>between two BT detectors.</a:t>
            </a:r>
          </a:p>
        </p:txBody>
      </p:sp>
      <p:sp>
        <p:nvSpPr>
          <p:cNvPr id="30" name="TextBox 26"/>
          <p:cNvSpPr txBox="1"/>
          <p:nvPr/>
        </p:nvSpPr>
        <p:spPr>
          <a:xfrm>
            <a:off x="9339935" y="3257496"/>
            <a:ext cx="25639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Distance = 1.7 km</a:t>
            </a:r>
          </a:p>
          <a:p>
            <a:r>
              <a:rPr lang="en-US" sz="1500" dirty="0">
                <a:solidFill>
                  <a:srgbClr val="FF0000"/>
                </a:solidFill>
              </a:rPr>
              <a:t>Measured travel time = 6 min</a:t>
            </a:r>
          </a:p>
          <a:p>
            <a:r>
              <a:rPr lang="en-US" sz="1500" dirty="0"/>
              <a:t>Average speed = 17 km/h</a:t>
            </a:r>
          </a:p>
        </p:txBody>
      </p:sp>
    </p:spTree>
    <p:extLst>
      <p:ext uri="{BB962C8B-B14F-4D97-AF65-F5344CB8AC3E}">
        <p14:creationId xmlns:p14="http://schemas.microsoft.com/office/powerpoint/2010/main" val="240529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7.40741E-7 L 0.43958 7.40741E-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79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3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52054" y="140836"/>
            <a:ext cx="10501746" cy="1110819"/>
          </a:xfrm>
        </p:spPr>
        <p:txBody>
          <a:bodyPr>
            <a:normAutofit/>
          </a:bodyPr>
          <a:lstStyle/>
          <a:p>
            <a:r>
              <a:rPr lang="en-US" sz="2400" dirty="0"/>
              <a:t>Data Fusion for Estimating </a:t>
            </a:r>
            <a:r>
              <a:rPr lang="en-US" sz="2400" dirty="0">
                <a:solidFill>
                  <a:srgbClr val="FF0000"/>
                </a:solidFill>
              </a:rPr>
              <a:t>Average Speeds</a:t>
            </a:r>
            <a:r>
              <a:rPr lang="en-US" sz="2400" dirty="0"/>
              <a:t> on IRN at 2-min Interval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4" name="Rectangle 4"/>
          <p:cNvSpPr/>
          <p:nvPr/>
        </p:nvSpPr>
        <p:spPr>
          <a:xfrm>
            <a:off x="5184110" y="2869633"/>
            <a:ext cx="3411416" cy="7971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000">
                <a:solidFill>
                  <a:srgbClr val="00B050"/>
                </a:solidFill>
              </a:rPr>
              <a:t>Space mean speeds</a:t>
            </a:r>
            <a:endParaRPr lang="en-US" sz="2000">
              <a:solidFill>
                <a:srgbClr val="00B050"/>
              </a:solidFill>
            </a:endParaRPr>
          </a:p>
          <a:p>
            <a:pPr algn="ctr"/>
            <a:r>
              <a:rPr lang="en-HK" sz="2000">
                <a:solidFill>
                  <a:srgbClr val="00B050"/>
                </a:solidFill>
              </a:rPr>
              <a:t>at 2-min interval</a:t>
            </a:r>
            <a:endParaRPr lang="en-US" sz="2000" i="1">
              <a:solidFill>
                <a:srgbClr val="00B050"/>
              </a:solidFill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457097" y="4197290"/>
            <a:ext cx="3411416" cy="7971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000">
                <a:solidFill>
                  <a:srgbClr val="0000FF"/>
                </a:solidFill>
              </a:rPr>
              <a:t>(1) BT </a:t>
            </a:r>
            <a:r>
              <a:rPr lang="en-HK" sz="2000" b="1">
                <a:solidFill>
                  <a:srgbClr val="0000FF"/>
                </a:solidFill>
              </a:rPr>
              <a:t>average travel time </a:t>
            </a:r>
            <a:r>
              <a:rPr lang="en-HK" sz="2000">
                <a:solidFill>
                  <a:srgbClr val="0000FF"/>
                </a:solidFill>
              </a:rPr>
              <a:t>at 2-min interval</a:t>
            </a:r>
            <a:endParaRPr lang="en-US" sz="2000" i="1">
              <a:solidFill>
                <a:srgbClr val="0000FF"/>
              </a:solidFill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5184110" y="4099755"/>
            <a:ext cx="3411416" cy="10086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000">
                <a:solidFill>
                  <a:schemeClr val="tx1"/>
                </a:solidFill>
              </a:rPr>
              <a:t>Estimated </a:t>
            </a:r>
            <a:r>
              <a:rPr lang="en-HK" sz="2000" b="1">
                <a:solidFill>
                  <a:schemeClr val="tx1"/>
                </a:solidFill>
              </a:rPr>
              <a:t>average speeds &amp; times</a:t>
            </a:r>
            <a:r>
              <a:rPr lang="en-HK" sz="2000">
                <a:solidFill>
                  <a:schemeClr val="tx1"/>
                </a:solidFill>
              </a:rPr>
              <a:t> on IRN segments at 2-min interval</a:t>
            </a:r>
            <a:endParaRPr lang="en-US" sz="2000" i="1">
              <a:solidFill>
                <a:schemeClr val="tx1"/>
              </a:solidFill>
            </a:endParaRPr>
          </a:p>
        </p:txBody>
      </p:sp>
      <p:sp>
        <p:nvSpPr>
          <p:cNvPr id="47" name="Rectangle 7"/>
          <p:cNvSpPr/>
          <p:nvPr/>
        </p:nvSpPr>
        <p:spPr>
          <a:xfrm>
            <a:off x="3060607" y="5441075"/>
            <a:ext cx="2848040" cy="5420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>
                <a:solidFill>
                  <a:srgbClr val="800000"/>
                </a:solidFill>
              </a:rPr>
              <a:t>Calculate fusion ratio </a:t>
            </a:r>
            <a:r>
              <a:rPr lang="en-HK" b="1">
                <a:solidFill>
                  <a:srgbClr val="800000"/>
                </a:solidFill>
              </a:rPr>
              <a:t>R</a:t>
            </a:r>
            <a:endParaRPr lang="en-US" b="1" i="1">
              <a:solidFill>
                <a:srgbClr val="800000"/>
              </a:solidFill>
            </a:endParaRPr>
          </a:p>
        </p:txBody>
      </p:sp>
      <p:sp>
        <p:nvSpPr>
          <p:cNvPr id="48" name="Rectangle 8"/>
          <p:cNvSpPr/>
          <p:nvPr/>
        </p:nvSpPr>
        <p:spPr>
          <a:xfrm>
            <a:off x="9351526" y="3885080"/>
            <a:ext cx="2548128" cy="1446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000" b="1">
                <a:solidFill>
                  <a:srgbClr val="FF0000"/>
                </a:solidFill>
              </a:rPr>
              <a:t>Resultant estimated average speeds </a:t>
            </a:r>
            <a:r>
              <a:rPr lang="en-HK" sz="2000">
                <a:solidFill>
                  <a:schemeClr val="tx1"/>
                </a:solidFill>
              </a:rPr>
              <a:t>on IRN segments at 2-min interval</a:t>
            </a:r>
            <a:endParaRPr lang="en-US" sz="2000" i="1">
              <a:solidFill>
                <a:srgbClr val="800000"/>
              </a:solidFill>
            </a:endParaRPr>
          </a:p>
        </p:txBody>
      </p:sp>
      <p:cxnSp>
        <p:nvCxnSpPr>
          <p:cNvPr id="49" name="Straight Arrow Connector 9"/>
          <p:cNvCxnSpPr>
            <a:cxnSpLocks/>
            <a:stCxn id="44" idx="2"/>
            <a:endCxn id="46" idx="0"/>
          </p:cNvCxnSpPr>
          <p:nvPr/>
        </p:nvCxnSpPr>
        <p:spPr>
          <a:xfrm>
            <a:off x="6889818" y="3666802"/>
            <a:ext cx="0" cy="432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13"/>
          <p:cNvSpPr/>
          <p:nvPr/>
        </p:nvSpPr>
        <p:spPr>
          <a:xfrm>
            <a:off x="5184110" y="1502562"/>
            <a:ext cx="3426490" cy="9335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000" dirty="0">
                <a:solidFill>
                  <a:srgbClr val="FF00FF"/>
                </a:solidFill>
              </a:rPr>
              <a:t>Time mean speeds at 2-min interval </a:t>
            </a:r>
            <a:r>
              <a:rPr lang="en-HK" sz="2000" dirty="0" smtClean="0">
                <a:solidFill>
                  <a:schemeClr val="tx1"/>
                </a:solidFill>
              </a:rPr>
              <a:t>(after data cleansing of </a:t>
            </a:r>
            <a:r>
              <a:rPr lang="en-HK" sz="2000" dirty="0" smtClean="0">
                <a:solidFill>
                  <a:srgbClr val="FF0000"/>
                </a:solidFill>
              </a:rPr>
              <a:t>AID</a:t>
            </a:r>
            <a:r>
              <a:rPr lang="en-HK" sz="2000" dirty="0" smtClean="0">
                <a:solidFill>
                  <a:schemeClr val="tx1"/>
                </a:solidFill>
              </a:rPr>
              <a:t> </a:t>
            </a:r>
            <a:r>
              <a:rPr lang="en-HK" sz="2000" dirty="0">
                <a:solidFill>
                  <a:schemeClr val="tx1"/>
                </a:solidFill>
              </a:rPr>
              <a:t>spot speed data)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14"/>
          <p:cNvCxnSpPr/>
          <p:nvPr/>
        </p:nvCxnSpPr>
        <p:spPr>
          <a:xfrm>
            <a:off x="6882281" y="2436680"/>
            <a:ext cx="0" cy="432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22"/>
          <p:cNvCxnSpPr/>
          <p:nvPr/>
        </p:nvCxnSpPr>
        <p:spPr>
          <a:xfrm>
            <a:off x="4472435" y="4595875"/>
            <a:ext cx="0" cy="82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32"/>
          <p:cNvCxnSpPr>
            <a:stCxn id="45" idx="3"/>
            <a:endCxn id="46" idx="1"/>
          </p:cNvCxnSpPr>
          <p:nvPr/>
        </p:nvCxnSpPr>
        <p:spPr>
          <a:xfrm>
            <a:off x="3868513" y="4595875"/>
            <a:ext cx="13155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37"/>
          <p:cNvCxnSpPr>
            <a:stCxn id="47" idx="3"/>
            <a:endCxn id="46" idx="2"/>
          </p:cNvCxnSpPr>
          <p:nvPr/>
        </p:nvCxnSpPr>
        <p:spPr>
          <a:xfrm flipV="1">
            <a:off x="5908647" y="5108448"/>
            <a:ext cx="981171" cy="6036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39"/>
          <p:cNvCxnSpPr>
            <a:stCxn id="46" idx="3"/>
            <a:endCxn id="48" idx="1"/>
          </p:cNvCxnSpPr>
          <p:nvPr/>
        </p:nvCxnSpPr>
        <p:spPr>
          <a:xfrm>
            <a:off x="8595526" y="4604102"/>
            <a:ext cx="75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40"/>
          <p:cNvSpPr txBox="1"/>
          <p:nvPr/>
        </p:nvSpPr>
        <p:spPr>
          <a:xfrm>
            <a:off x="5507299" y="3698061"/>
            <a:ext cx="204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 dirty="0">
                <a:solidFill>
                  <a:srgbClr val="C00000"/>
                </a:solidFill>
              </a:rPr>
              <a:t>Linearization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7" name="TextBox 47"/>
          <p:cNvSpPr txBox="1"/>
          <p:nvPr/>
        </p:nvSpPr>
        <p:spPr>
          <a:xfrm>
            <a:off x="6882281" y="5295561"/>
            <a:ext cx="204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/>
              <a:t>Adjustment</a:t>
            </a:r>
            <a:endParaRPr lang="en-US"/>
          </a:p>
        </p:txBody>
      </p:sp>
      <p:sp>
        <p:nvSpPr>
          <p:cNvPr id="58" name="TextBox 48"/>
          <p:cNvSpPr txBox="1"/>
          <p:nvPr/>
        </p:nvSpPr>
        <p:spPr>
          <a:xfrm>
            <a:off x="6857842" y="2450536"/>
            <a:ext cx="204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/>
              <a:t>Calibration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23">
                <a:extLst>
                  <a:ext uri="{FF2B5EF4-FFF2-40B4-BE49-F238E27FC236}">
                    <a16:creationId xmlns:a16="http://schemas.microsoft.com/office/drawing/2014/main" id="{CEC53B86-0CB4-4E6E-9DF9-CAF3FBEBBECA}"/>
                  </a:ext>
                </a:extLst>
              </p:cNvPr>
              <p:cNvSpPr/>
              <p:nvPr/>
            </p:nvSpPr>
            <p:spPr>
              <a:xfrm>
                <a:off x="-111792" y="6027721"/>
                <a:ext cx="10727146" cy="483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rgbClr val="8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HK" sz="1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HK" sz="1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HK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𝐵𝑇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𝑡𝑟𝑎𝑣𝑒𝑙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𝑟𝑜𝑎𝑑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𝑠𝑒𝑐𝑡𝑖𝑜𝑛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𝑏𝑒𝑡𝑤𝑒𝑒𝑛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𝑡𝑤𝑜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𝐵𝑇</m:t>
                          </m:r>
                          <m:r>
                            <a:rPr lang="en-US" sz="12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𝑑𝑒𝑡𝑒𝑐𝑡𝑜𝑟𝑠</m:t>
                          </m:r>
                        </m:num>
                        <m:den>
                          <m:d>
                            <m:dPr>
                              <m:ctrlPr>
                                <a:rPr lang="en-HK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HK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HK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𝑡𝑟𝑎𝑣𝑒𝑙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𝑡𝑖𝑚𝑒𝑠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𝑒𝑠𝑡𝑖𝑚𝑎𝑡𝑒𝑑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𝐴𝐼𝐷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𝑜𝑣𝑒𝑟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𝑝𝑒𝑟𝑖𝑜𝑑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𝑗𝑜𝑢𝑟𝑛𝑒𝑦</m:t>
                          </m:r>
                          <m:r>
                            <a:rPr lang="en-US" sz="12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𝑡𝑎𝑘𝑒𝑛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9" name="Rectangle 23">
                <a:extLst>
                  <a:ext uri="{FF2B5EF4-FFF2-40B4-BE49-F238E27FC236}">
                    <a16:creationId xmlns:a16="http://schemas.microsoft.com/office/drawing/2014/main" id="{CEC53B86-0CB4-4E6E-9DF9-CAF3FBEBBE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792" y="6027721"/>
                <a:ext cx="10727146" cy="483081"/>
              </a:xfrm>
              <a:prstGeom prst="rect">
                <a:avLst/>
              </a:prstGeom>
              <a:blipFill>
                <a:blip r:embed="rId2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11"/>
          <p:cNvGrpSpPr/>
          <p:nvPr/>
        </p:nvGrpSpPr>
        <p:grpSpPr>
          <a:xfrm>
            <a:off x="1029734" y="1543408"/>
            <a:ext cx="4061745" cy="2209507"/>
            <a:chOff x="1029734" y="1543408"/>
            <a:chExt cx="4061745" cy="2209507"/>
          </a:xfrm>
        </p:grpSpPr>
        <p:sp>
          <p:nvSpPr>
            <p:cNvPr id="61" name="Line 31"/>
            <p:cNvSpPr>
              <a:spLocks noChangeShapeType="1"/>
            </p:cNvSpPr>
            <p:nvPr/>
          </p:nvSpPr>
          <p:spPr bwMode="auto">
            <a:xfrm>
              <a:off x="1246490" y="3448073"/>
              <a:ext cx="30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32"/>
            <p:cNvSpPr>
              <a:spLocks noChangeShapeType="1"/>
            </p:cNvSpPr>
            <p:nvPr/>
          </p:nvSpPr>
          <p:spPr bwMode="auto">
            <a:xfrm>
              <a:off x="3970016" y="2247248"/>
              <a:ext cx="0" cy="120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33"/>
            <p:cNvSpPr>
              <a:spLocks noChangeShapeType="1"/>
            </p:cNvSpPr>
            <p:nvPr/>
          </p:nvSpPr>
          <p:spPr bwMode="auto">
            <a:xfrm>
              <a:off x="1899078" y="2726352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34"/>
            <p:cNvSpPr>
              <a:spLocks noChangeShapeType="1"/>
            </p:cNvSpPr>
            <p:nvPr/>
          </p:nvSpPr>
          <p:spPr bwMode="auto">
            <a:xfrm flipV="1">
              <a:off x="1899079" y="2214222"/>
              <a:ext cx="2124938" cy="519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35"/>
            <p:cNvSpPr>
              <a:spLocks noChangeShapeType="1"/>
            </p:cNvSpPr>
            <p:nvPr/>
          </p:nvSpPr>
          <p:spPr bwMode="auto">
            <a:xfrm>
              <a:off x="3218198" y="2421107"/>
              <a:ext cx="0" cy="104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Text Box 37"/>
            <p:cNvSpPr txBox="1">
              <a:spLocks noChangeArrowheads="1"/>
            </p:cNvSpPr>
            <p:nvPr/>
          </p:nvSpPr>
          <p:spPr bwMode="auto">
            <a:xfrm>
              <a:off x="3975222" y="1980432"/>
              <a:ext cx="106481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HK" altLang="zh-TW" sz="1400" dirty="0">
                  <a:solidFill>
                    <a:srgbClr val="00B050"/>
                  </a:solidFill>
                </a:rPr>
                <a:t>Space mean speed </a:t>
              </a:r>
              <a:r>
                <a:rPr lang="en-US" sz="14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400" i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1400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7" name="Text Box 40"/>
            <p:cNvSpPr txBox="1">
              <a:spLocks noChangeArrowheads="1"/>
            </p:cNvSpPr>
            <p:nvPr/>
          </p:nvSpPr>
          <p:spPr bwMode="auto">
            <a:xfrm>
              <a:off x="1979640" y="3445598"/>
              <a:ext cx="440229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HK" altLang="zh-TW" sz="1400" i="1" dirty="0"/>
                <a:t>d</a:t>
              </a:r>
              <a:r>
                <a:rPr lang="en-HK" altLang="zh-TW" sz="1400" i="1" baseline="-25000" dirty="0"/>
                <a:t>1</a:t>
              </a:r>
              <a:endParaRPr lang="en-US" altLang="zh-TW" sz="1400" i="1" baseline="-25000" dirty="0"/>
            </a:p>
          </p:txBody>
        </p:sp>
        <p:sp>
          <p:nvSpPr>
            <p:cNvPr id="68" name="Oval 55"/>
            <p:cNvSpPr/>
            <p:nvPr/>
          </p:nvSpPr>
          <p:spPr>
            <a:xfrm>
              <a:off x="3173654" y="341226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 Box 40"/>
            <p:cNvSpPr txBox="1">
              <a:spLocks noChangeArrowheads="1"/>
            </p:cNvSpPr>
            <p:nvPr/>
          </p:nvSpPr>
          <p:spPr bwMode="auto">
            <a:xfrm>
              <a:off x="3469771" y="3440997"/>
              <a:ext cx="407614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HK" altLang="zh-TW" sz="1400" i="1" dirty="0"/>
                <a:t>d</a:t>
              </a:r>
              <a:r>
                <a:rPr lang="en-HK" altLang="zh-TW" sz="1400" i="1" baseline="-25000" dirty="0"/>
                <a:t>3</a:t>
              </a:r>
              <a:endParaRPr lang="en-US" altLang="zh-TW" sz="1400" i="1" baseline="-25000" dirty="0"/>
            </a:p>
          </p:txBody>
        </p:sp>
        <p:sp>
          <p:nvSpPr>
            <p:cNvPr id="70" name="Text Box 37"/>
            <p:cNvSpPr txBox="1">
              <a:spLocks noChangeArrowheads="1"/>
            </p:cNvSpPr>
            <p:nvPr/>
          </p:nvSpPr>
          <p:spPr bwMode="auto">
            <a:xfrm>
              <a:off x="3916016" y="1543408"/>
              <a:ext cx="103158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400" dirty="0">
                  <a:solidFill>
                    <a:srgbClr val="C00000"/>
                  </a:solidFill>
                </a:rPr>
                <a:t>AID </a:t>
              </a:r>
              <a:r>
                <a:rPr lang="en-US" altLang="zh-TW" sz="1400" dirty="0"/>
                <a:t>detector 2</a:t>
              </a:r>
            </a:p>
          </p:txBody>
        </p:sp>
        <p:sp>
          <p:nvSpPr>
            <p:cNvPr id="71" name="Text Box 37"/>
            <p:cNvSpPr txBox="1">
              <a:spLocks noChangeArrowheads="1"/>
            </p:cNvSpPr>
            <p:nvPr/>
          </p:nvSpPr>
          <p:spPr bwMode="auto">
            <a:xfrm>
              <a:off x="1041803" y="1951752"/>
              <a:ext cx="103158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400" dirty="0">
                  <a:solidFill>
                    <a:srgbClr val="C00000"/>
                  </a:solidFill>
                </a:rPr>
                <a:t>AID </a:t>
              </a:r>
              <a:r>
                <a:rPr lang="en-US" altLang="zh-TW" sz="1400" dirty="0"/>
                <a:t>detector 1</a:t>
              </a:r>
            </a:p>
          </p:txBody>
        </p:sp>
        <p:sp>
          <p:nvSpPr>
            <p:cNvPr id="72" name="Text Box 37"/>
            <p:cNvSpPr txBox="1">
              <a:spLocks noChangeArrowheads="1"/>
            </p:cNvSpPr>
            <p:nvPr/>
          </p:nvSpPr>
          <p:spPr bwMode="auto">
            <a:xfrm>
              <a:off x="1029734" y="2383887"/>
              <a:ext cx="106481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HK" altLang="zh-TW" sz="1400" dirty="0">
                  <a:solidFill>
                    <a:srgbClr val="00B050"/>
                  </a:solidFill>
                </a:rPr>
                <a:t>Space mean speed </a:t>
              </a:r>
              <a:r>
                <a:rPr lang="en-US" sz="14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400" i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1400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3" name="Oval 60"/>
            <p:cNvSpPr/>
            <p:nvPr/>
          </p:nvSpPr>
          <p:spPr>
            <a:xfrm>
              <a:off x="3157848" y="2360331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61"/>
            <p:cNvSpPr/>
            <p:nvPr/>
          </p:nvSpPr>
          <p:spPr>
            <a:xfrm>
              <a:off x="3916016" y="2177551"/>
              <a:ext cx="108000" cy="108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62"/>
            <p:cNvSpPr/>
            <p:nvPr/>
          </p:nvSpPr>
          <p:spPr>
            <a:xfrm>
              <a:off x="1864477" y="2693364"/>
              <a:ext cx="108000" cy="108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 Box 40"/>
            <p:cNvSpPr txBox="1">
              <a:spLocks noChangeArrowheads="1"/>
            </p:cNvSpPr>
            <p:nvPr/>
          </p:nvSpPr>
          <p:spPr bwMode="auto">
            <a:xfrm>
              <a:off x="4253279" y="3327020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HK" altLang="zh-TW" sz="1400" i="1" dirty="0"/>
                <a:t>distance</a:t>
              </a:r>
              <a:endParaRPr lang="en-US" altLang="zh-TW" sz="1400" i="1" baseline="-25000" dirty="0"/>
            </a:p>
          </p:txBody>
        </p:sp>
        <p:sp>
          <p:nvSpPr>
            <p:cNvPr id="77" name="Oval 64"/>
            <p:cNvSpPr/>
            <p:nvPr/>
          </p:nvSpPr>
          <p:spPr>
            <a:xfrm>
              <a:off x="2311869" y="2568717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Line 35"/>
            <p:cNvSpPr>
              <a:spLocks noChangeShapeType="1"/>
            </p:cNvSpPr>
            <p:nvPr/>
          </p:nvSpPr>
          <p:spPr bwMode="auto">
            <a:xfrm>
              <a:off x="2365869" y="2645497"/>
              <a:ext cx="0" cy="82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Oval 66"/>
            <p:cNvSpPr/>
            <p:nvPr/>
          </p:nvSpPr>
          <p:spPr>
            <a:xfrm>
              <a:off x="2327678" y="340603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 Box 40"/>
            <p:cNvSpPr txBox="1">
              <a:spLocks noChangeArrowheads="1"/>
            </p:cNvSpPr>
            <p:nvPr/>
          </p:nvSpPr>
          <p:spPr bwMode="auto">
            <a:xfrm>
              <a:off x="2661301" y="3445138"/>
              <a:ext cx="40761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HK" altLang="zh-TW" sz="1400" i="1" dirty="0"/>
                <a:t>d</a:t>
              </a:r>
              <a:r>
                <a:rPr lang="en-HK" altLang="zh-TW" sz="1400" i="1" baseline="-25000" dirty="0"/>
                <a:t>2</a:t>
              </a:r>
              <a:endParaRPr lang="en-US" altLang="zh-TW" sz="1400" i="1" baseline="-25000" dirty="0"/>
            </a:p>
          </p:txBody>
        </p:sp>
      </p:grpSp>
      <p:sp>
        <p:nvSpPr>
          <p:cNvPr id="81" name="TextBox 1">
            <a:extLst>
              <a:ext uri="{FF2B5EF4-FFF2-40B4-BE49-F238E27FC236}">
                <a16:creationId xmlns:a16="http://schemas.microsoft.com/office/drawing/2014/main" id="{BF3728F6-C5A1-42BB-BE80-37FF09BC9C14}"/>
              </a:ext>
            </a:extLst>
          </p:cNvPr>
          <p:cNvSpPr txBox="1"/>
          <p:nvPr/>
        </p:nvSpPr>
        <p:spPr>
          <a:xfrm>
            <a:off x="852054" y="1526208"/>
            <a:ext cx="4187979" cy="243284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2D4D8773-0A60-4AB2-A38D-C04F55447DAC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5040033" y="3882727"/>
            <a:ext cx="467266" cy="551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50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56" grpId="0"/>
      <p:bldP spid="57" grpId="0"/>
      <p:bldP spid="59" grpId="0"/>
      <p:bldP spid="8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>
                <a:solidFill>
                  <a:srgbClr val="800000"/>
                </a:solidFill>
              </a:rPr>
              <a:t>Fusion Ratio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4294967295"/>
          </p:nvPr>
        </p:nvSpPr>
        <p:spPr>
          <a:xfrm>
            <a:off x="644665" y="2820498"/>
            <a:ext cx="4856837" cy="27076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HK" sz="2400" dirty="0" smtClean="0"/>
              <a:t>If </a:t>
            </a:r>
            <a:r>
              <a:rPr lang="en-HK" sz="2400" b="1" dirty="0" smtClean="0">
                <a:solidFill>
                  <a:srgbClr val="800000"/>
                </a:solidFill>
              </a:rPr>
              <a:t>fusion </a:t>
            </a:r>
            <a:r>
              <a:rPr lang="en-HK" sz="2400" b="1" dirty="0">
                <a:solidFill>
                  <a:srgbClr val="800000"/>
                </a:solidFill>
              </a:rPr>
              <a:t>ratio </a:t>
            </a:r>
            <a:r>
              <a:rPr lang="en-HK" sz="2400" b="1" i="1" dirty="0">
                <a:solidFill>
                  <a:srgbClr val="800000"/>
                </a:solidFill>
              </a:rPr>
              <a:t>R</a:t>
            </a:r>
            <a:r>
              <a:rPr lang="en-HK" sz="2400" b="1" dirty="0">
                <a:solidFill>
                  <a:srgbClr val="800000"/>
                </a:solidFill>
              </a:rPr>
              <a:t> </a:t>
            </a:r>
            <a:r>
              <a:rPr lang="en-HK" sz="2400" dirty="0"/>
              <a:t>is too large or small </a:t>
            </a:r>
          </a:p>
          <a:p>
            <a:pPr marL="0" indent="0">
              <a:buNone/>
            </a:pPr>
            <a:r>
              <a:rPr lang="en-HK" sz="2400" dirty="0">
                <a:sym typeface="Wingdings" panose="05000000000000000000" pitchFamily="2" charset="2"/>
              </a:rPr>
              <a:t></a:t>
            </a:r>
            <a:r>
              <a:rPr lang="en-HK" sz="2400" dirty="0"/>
              <a:t> </a:t>
            </a:r>
            <a:r>
              <a:rPr lang="en-HK" sz="2400" b="1" i="1" dirty="0">
                <a:solidFill>
                  <a:srgbClr val="800000"/>
                </a:solidFill>
              </a:rPr>
              <a:t>R </a:t>
            </a:r>
            <a:r>
              <a:rPr lang="en-HK" sz="2400" b="1" dirty="0"/>
              <a:t>&lt; 0.8 or </a:t>
            </a:r>
            <a:r>
              <a:rPr lang="en-HK" sz="2400" b="1" i="1" dirty="0">
                <a:solidFill>
                  <a:srgbClr val="800000"/>
                </a:solidFill>
              </a:rPr>
              <a:t>R </a:t>
            </a:r>
            <a:r>
              <a:rPr lang="en-HK" sz="2400" b="1" dirty="0"/>
              <a:t>&gt; 1.4</a:t>
            </a:r>
            <a:r>
              <a:rPr lang="en-HK" sz="2400" dirty="0"/>
              <a:t>, do not conduct data fusion due to inconsistency between </a:t>
            </a:r>
            <a:r>
              <a:rPr lang="en-HK" sz="2400" dirty="0">
                <a:solidFill>
                  <a:srgbClr val="0000FF"/>
                </a:solidFill>
              </a:rPr>
              <a:t>BT</a:t>
            </a:r>
            <a:r>
              <a:rPr lang="en-HK" sz="2400" dirty="0"/>
              <a:t> and </a:t>
            </a:r>
            <a:r>
              <a:rPr lang="en-HK" sz="2400" dirty="0">
                <a:solidFill>
                  <a:srgbClr val="C00000"/>
                </a:solidFill>
              </a:rPr>
              <a:t>AID</a:t>
            </a:r>
            <a:r>
              <a:rPr lang="en-HK" sz="2400" dirty="0"/>
              <a:t> data</a:t>
            </a:r>
          </a:p>
          <a:p>
            <a:pPr marL="0" indent="0">
              <a:buNone/>
            </a:pPr>
            <a:endParaRPr lang="en-HK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44664" y="1215986"/>
                <a:ext cx="10902669" cy="6784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8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HK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HK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𝐵𝑇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𝑡𝑟𝑎𝑣𝑒𝑙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𝑟𝑜𝑎𝑑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𝑠𝑒𝑐𝑡𝑖𝑜𝑛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𝑏𝑒𝑡𝑤𝑒𝑒𝑛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𝑡𝑤𝑜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𝐵𝑇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𝑑𝑒𝑡𝑒𝑐𝑡𝑜𝑟𝑠</m:t>
                          </m:r>
                        </m:num>
                        <m:den>
                          <m:d>
                            <m:dPr>
                              <m:ctrlPr>
                                <a:rPr lang="en-HK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HK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𝑡𝑟𝑎𝑣𝑒𝑙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𝑡𝑖𝑚𝑒𝑠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𝑒𝑠𝑡𝑖𝑚𝑎𝑡𝑒𝑑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𝐴𝐼𝐷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𝑜𝑣𝑒𝑟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𝑝𝑒𝑟𝑖𝑜𝑑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𝑗𝑜𝑢𝑟𝑛𝑒𝑦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𝑡𝑎𝑘𝑒𝑛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64" y="1215986"/>
                <a:ext cx="10902669" cy="678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10"/>
          <p:cNvSpPr/>
          <p:nvPr/>
        </p:nvSpPr>
        <p:spPr>
          <a:xfrm>
            <a:off x="7823723" y="3720685"/>
            <a:ext cx="3259324" cy="1701790"/>
          </a:xfrm>
          <a:custGeom>
            <a:avLst/>
            <a:gdLst>
              <a:gd name="connsiteX0" fmla="*/ 0 w 4153554"/>
              <a:gd name="connsiteY0" fmla="*/ 2745295 h 2745295"/>
              <a:gd name="connsiteX1" fmla="*/ 834571 w 4153554"/>
              <a:gd name="connsiteY1" fmla="*/ 2171981 h 2745295"/>
              <a:gd name="connsiteX2" fmla="*/ 1175657 w 4153554"/>
              <a:gd name="connsiteY2" fmla="*/ 1867181 h 2745295"/>
              <a:gd name="connsiteX3" fmla="*/ 1712685 w 4153554"/>
              <a:gd name="connsiteY3" fmla="*/ 1671238 h 2745295"/>
              <a:gd name="connsiteX4" fmla="*/ 2082800 w 4153554"/>
              <a:gd name="connsiteY4" fmla="*/ 1409981 h 2745295"/>
              <a:gd name="connsiteX5" fmla="*/ 2634342 w 4153554"/>
              <a:gd name="connsiteY5" fmla="*/ 894724 h 2745295"/>
              <a:gd name="connsiteX6" fmla="*/ 2997200 w 4153554"/>
              <a:gd name="connsiteY6" fmla="*/ 423010 h 2745295"/>
              <a:gd name="connsiteX7" fmla="*/ 3468914 w 4153554"/>
              <a:gd name="connsiteY7" fmla="*/ 176267 h 2745295"/>
              <a:gd name="connsiteX8" fmla="*/ 4020457 w 4153554"/>
              <a:gd name="connsiteY8" fmla="*/ 23867 h 2745295"/>
              <a:gd name="connsiteX9" fmla="*/ 4143828 w 4153554"/>
              <a:gd name="connsiteY9" fmla="*/ 2095 h 2745295"/>
              <a:gd name="connsiteX10" fmla="*/ 4136571 w 4153554"/>
              <a:gd name="connsiteY10" fmla="*/ 2095 h 274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53554" h="2745295">
                <a:moveTo>
                  <a:pt x="0" y="2745295"/>
                </a:moveTo>
                <a:cubicBezTo>
                  <a:pt x="319314" y="2531814"/>
                  <a:pt x="638628" y="2318333"/>
                  <a:pt x="834571" y="2171981"/>
                </a:cubicBezTo>
                <a:cubicBezTo>
                  <a:pt x="1030514" y="2025629"/>
                  <a:pt x="1029305" y="1950638"/>
                  <a:pt x="1175657" y="1867181"/>
                </a:cubicBezTo>
                <a:cubicBezTo>
                  <a:pt x="1322009" y="1783724"/>
                  <a:pt x="1561494" y="1747438"/>
                  <a:pt x="1712685" y="1671238"/>
                </a:cubicBezTo>
                <a:cubicBezTo>
                  <a:pt x="1863876" y="1595038"/>
                  <a:pt x="1929191" y="1539400"/>
                  <a:pt x="2082800" y="1409981"/>
                </a:cubicBezTo>
                <a:cubicBezTo>
                  <a:pt x="2236409" y="1280562"/>
                  <a:pt x="2481942" y="1059219"/>
                  <a:pt x="2634342" y="894724"/>
                </a:cubicBezTo>
                <a:cubicBezTo>
                  <a:pt x="2786742" y="730229"/>
                  <a:pt x="2858105" y="542753"/>
                  <a:pt x="2997200" y="423010"/>
                </a:cubicBezTo>
                <a:cubicBezTo>
                  <a:pt x="3136295" y="303267"/>
                  <a:pt x="3298371" y="242791"/>
                  <a:pt x="3468914" y="176267"/>
                </a:cubicBezTo>
                <a:cubicBezTo>
                  <a:pt x="3639457" y="109743"/>
                  <a:pt x="3907971" y="52896"/>
                  <a:pt x="4020457" y="23867"/>
                </a:cubicBezTo>
                <a:cubicBezTo>
                  <a:pt x="4132943" y="-5162"/>
                  <a:pt x="4124476" y="5724"/>
                  <a:pt x="4143828" y="2095"/>
                </a:cubicBezTo>
                <a:cubicBezTo>
                  <a:pt x="4163180" y="-1534"/>
                  <a:pt x="4149875" y="280"/>
                  <a:pt x="4136571" y="2095"/>
                </a:cubicBezTo>
              </a:path>
            </a:pathLst>
          </a:cu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1"/>
          <p:cNvSpPr txBox="1"/>
          <p:nvPr/>
        </p:nvSpPr>
        <p:spPr>
          <a:xfrm>
            <a:off x="8261967" y="5818534"/>
            <a:ext cx="3102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600">
                <a:solidFill>
                  <a:srgbClr val="0000FF"/>
                </a:solidFill>
              </a:rPr>
              <a:t>(1) Average travel time</a:t>
            </a:r>
            <a:endParaRPr lang="en-US" sz="1600">
              <a:solidFill>
                <a:srgbClr val="0000FF"/>
              </a:solidFill>
            </a:endParaRPr>
          </a:p>
        </p:txBody>
      </p:sp>
      <p:cxnSp>
        <p:nvCxnSpPr>
          <p:cNvPr id="9" name="Straight Arrow Connector 12"/>
          <p:cNvCxnSpPr/>
          <p:nvPr/>
        </p:nvCxnSpPr>
        <p:spPr>
          <a:xfrm>
            <a:off x="8517430" y="5798347"/>
            <a:ext cx="2592000" cy="0"/>
          </a:xfrm>
          <a:prstGeom prst="straightConnector1">
            <a:avLst/>
          </a:prstGeom>
          <a:ln w="317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/>
          <p:cNvCxnSpPr/>
          <p:nvPr/>
        </p:nvCxnSpPr>
        <p:spPr>
          <a:xfrm>
            <a:off x="9331569" y="3708958"/>
            <a:ext cx="0" cy="137104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5"/>
          <p:cNvCxnSpPr/>
          <p:nvPr/>
        </p:nvCxnSpPr>
        <p:spPr>
          <a:xfrm>
            <a:off x="10195170" y="3720685"/>
            <a:ext cx="0" cy="137104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6"/>
          <p:cNvCxnSpPr/>
          <p:nvPr/>
        </p:nvCxnSpPr>
        <p:spPr>
          <a:xfrm>
            <a:off x="11075232" y="3720685"/>
            <a:ext cx="0" cy="137104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7"/>
          <p:cNvSpPr txBox="1"/>
          <p:nvPr/>
        </p:nvSpPr>
        <p:spPr>
          <a:xfrm>
            <a:off x="8517430" y="3160361"/>
            <a:ext cx="3102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600">
                <a:solidFill>
                  <a:srgbClr val="00B050"/>
                </a:solidFill>
              </a:rPr>
              <a:t>(2) Average travel times over the time period taken</a:t>
            </a:r>
            <a:endParaRPr lang="en-US" sz="1600">
              <a:solidFill>
                <a:srgbClr val="00B050"/>
              </a:solidFill>
            </a:endParaRPr>
          </a:p>
        </p:txBody>
      </p:sp>
      <p:pic>
        <p:nvPicPr>
          <p:cNvPr id="14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393" y="2226016"/>
            <a:ext cx="6038851" cy="358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6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Example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ectangle 56"/>
          <p:cNvSpPr/>
          <p:nvPr/>
        </p:nvSpPr>
        <p:spPr>
          <a:xfrm rot="16200000">
            <a:off x="6944452" y="3197558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9"/>
          <p:cNvSpPr/>
          <p:nvPr/>
        </p:nvSpPr>
        <p:spPr>
          <a:xfrm rot="16200000">
            <a:off x="1867601" y="3195422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806618" y="2637477"/>
            <a:ext cx="461751" cy="462087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3092256" y="5623479"/>
            <a:ext cx="6013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/>
              <a:t>3</a:t>
            </a:r>
            <a:r>
              <a:rPr lang="en-US" sz="2200"/>
              <a:t> IRN segments are divided into </a:t>
            </a:r>
            <a:r>
              <a:rPr lang="en-US" sz="2200" b="1">
                <a:solidFill>
                  <a:srgbClr val="FF00FF"/>
                </a:solidFill>
              </a:rPr>
              <a:t>6</a:t>
            </a:r>
            <a:r>
              <a:rPr lang="en-US" sz="2200"/>
              <a:t> small segments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5347097" y="1369002"/>
            <a:ext cx="259969" cy="4864658"/>
          </a:xfrm>
          <a:prstGeom prst="leftBrac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780561" y="1416951"/>
            <a:ext cx="155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With </a:t>
            </a:r>
            <a:r>
              <a:rPr lang="en-US" b="1" dirty="0">
                <a:solidFill>
                  <a:srgbClr val="C00000"/>
                </a:solidFill>
              </a:rPr>
              <a:t>AID</a:t>
            </a:r>
            <a:r>
              <a:rPr lang="en-US" b="1" dirty="0"/>
              <a:t> data only</a:t>
            </a:r>
            <a:endParaRPr lang="en-US" dirty="0"/>
          </a:p>
        </p:txBody>
      </p:sp>
      <p:sp>
        <p:nvSpPr>
          <p:cNvPr id="11" name="Left Brace 12"/>
          <p:cNvSpPr/>
          <p:nvPr/>
        </p:nvSpPr>
        <p:spPr>
          <a:xfrm rot="5400000">
            <a:off x="2268071" y="1615640"/>
            <a:ext cx="375151" cy="1240553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3044753" y="2953013"/>
            <a:ext cx="23703" cy="714317"/>
          </a:xfrm>
          <a:prstGeom prst="line">
            <a:avLst/>
          </a:prstGeom>
          <a:ln w="19050">
            <a:solidFill>
              <a:srgbClr val="FF00FF"/>
            </a:solidFill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3" name="Line 5"/>
          <p:cNvSpPr>
            <a:spLocks noChangeShapeType="1"/>
          </p:cNvSpPr>
          <p:nvPr/>
        </p:nvSpPr>
        <p:spPr bwMode="auto">
          <a:xfrm>
            <a:off x="1680696" y="3103811"/>
            <a:ext cx="29260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58"/>
          <p:cNvSpPr>
            <a:spLocks noChangeShapeType="1"/>
          </p:cNvSpPr>
          <p:nvPr/>
        </p:nvSpPr>
        <p:spPr bwMode="auto">
          <a:xfrm flipV="1">
            <a:off x="5211077" y="2875564"/>
            <a:ext cx="737304" cy="22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1676576" y="3436031"/>
            <a:ext cx="94183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83"/>
          <p:cNvSpPr>
            <a:spLocks noChangeShapeType="1"/>
          </p:cNvSpPr>
          <p:nvPr/>
        </p:nvSpPr>
        <p:spPr bwMode="auto">
          <a:xfrm>
            <a:off x="1981375" y="3258656"/>
            <a:ext cx="88696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7" name="Picture 3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26501" y="2607260"/>
            <a:ext cx="461751" cy="462087"/>
          </a:xfrm>
          <a:prstGeom prst="rect">
            <a:avLst/>
          </a:prstGeom>
        </p:spPr>
      </p:pic>
      <p:sp>
        <p:nvSpPr>
          <p:cNvPr id="18" name="Line 58"/>
          <p:cNvSpPr>
            <a:spLocks noChangeShapeType="1"/>
          </p:cNvSpPr>
          <p:nvPr/>
        </p:nvSpPr>
        <p:spPr bwMode="auto">
          <a:xfrm flipV="1">
            <a:off x="4605724" y="2734101"/>
            <a:ext cx="1019361" cy="3673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5200567" y="3106689"/>
            <a:ext cx="603504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42"/>
          <p:cNvSpPr/>
          <p:nvPr/>
        </p:nvSpPr>
        <p:spPr>
          <a:xfrm>
            <a:off x="1880305" y="3201966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43"/>
          <p:cNvSpPr/>
          <p:nvPr/>
        </p:nvSpPr>
        <p:spPr>
          <a:xfrm>
            <a:off x="4491632" y="321526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45"/>
          <p:cNvSpPr/>
          <p:nvPr/>
        </p:nvSpPr>
        <p:spPr>
          <a:xfrm>
            <a:off x="6961238" y="320525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46"/>
          <p:cNvSpPr/>
          <p:nvPr/>
        </p:nvSpPr>
        <p:spPr>
          <a:xfrm>
            <a:off x="9780545" y="3206892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ine 10"/>
          <p:cNvSpPr>
            <a:spLocks noChangeShapeType="1"/>
          </p:cNvSpPr>
          <p:nvPr/>
        </p:nvSpPr>
        <p:spPr bwMode="auto">
          <a:xfrm flipH="1">
            <a:off x="7898558" y="2950513"/>
            <a:ext cx="0" cy="659777"/>
          </a:xfrm>
          <a:prstGeom prst="line">
            <a:avLst/>
          </a:prstGeom>
          <a:ln w="19050">
            <a:solidFill>
              <a:srgbClr val="FF00FF"/>
            </a:solidFill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>
            <a:off x="10418753" y="2799422"/>
            <a:ext cx="0" cy="792000"/>
          </a:xfrm>
          <a:prstGeom prst="line">
            <a:avLst/>
          </a:prstGeom>
          <a:ln w="19050">
            <a:solidFill>
              <a:srgbClr val="FF00FF"/>
            </a:solidFill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1934305" y="2934914"/>
            <a:ext cx="0" cy="659777"/>
          </a:xfrm>
          <a:prstGeom prst="line">
            <a:avLst/>
          </a:prstGeom>
          <a:ln w="19050">
            <a:solidFill>
              <a:srgbClr val="FF00FF"/>
            </a:solidFill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27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021" y="2642046"/>
            <a:ext cx="492993" cy="442945"/>
          </a:xfrm>
          <a:prstGeom prst="rect">
            <a:avLst/>
          </a:prstGeom>
        </p:spPr>
      </p:pic>
      <p:sp>
        <p:nvSpPr>
          <p:cNvPr id="28" name="Line 10"/>
          <p:cNvSpPr>
            <a:spLocks noChangeShapeType="1"/>
          </p:cNvSpPr>
          <p:nvPr/>
        </p:nvSpPr>
        <p:spPr bwMode="auto">
          <a:xfrm flipH="1">
            <a:off x="9834545" y="2921245"/>
            <a:ext cx="0" cy="659777"/>
          </a:xfrm>
          <a:prstGeom prst="line">
            <a:avLst/>
          </a:prstGeom>
          <a:ln w="19050">
            <a:solidFill>
              <a:srgbClr val="FF00FF"/>
            </a:solidFill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 flipH="1">
            <a:off x="4553216" y="2980077"/>
            <a:ext cx="0" cy="659777"/>
          </a:xfrm>
          <a:prstGeom prst="line">
            <a:avLst/>
          </a:prstGeom>
          <a:ln w="19050">
            <a:solidFill>
              <a:srgbClr val="FF00FF"/>
            </a:solidFill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30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721" y="2643290"/>
            <a:ext cx="492993" cy="442945"/>
          </a:xfrm>
          <a:prstGeom prst="rect">
            <a:avLst/>
          </a:prstGeom>
        </p:spPr>
      </p:pic>
      <p:sp>
        <p:nvSpPr>
          <p:cNvPr id="31" name="Rectangle 57"/>
          <p:cNvSpPr/>
          <p:nvPr/>
        </p:nvSpPr>
        <p:spPr>
          <a:xfrm rot="16200000">
            <a:off x="10335899" y="3179261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892" y="2578342"/>
            <a:ext cx="492993" cy="442945"/>
          </a:xfrm>
          <a:prstGeom prst="rect">
            <a:avLst/>
          </a:prstGeom>
        </p:spPr>
      </p:pic>
      <p:cxnSp>
        <p:nvCxnSpPr>
          <p:cNvPr id="33" name="Straight Arrow Connector 4"/>
          <p:cNvCxnSpPr/>
          <p:nvPr/>
        </p:nvCxnSpPr>
        <p:spPr>
          <a:xfrm flipV="1">
            <a:off x="4534319" y="2807859"/>
            <a:ext cx="1162610" cy="445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Line 10"/>
          <p:cNvSpPr>
            <a:spLocks noChangeShapeType="1"/>
          </p:cNvSpPr>
          <p:nvPr/>
        </p:nvSpPr>
        <p:spPr bwMode="auto">
          <a:xfrm flipH="1">
            <a:off x="7017495" y="2970035"/>
            <a:ext cx="0" cy="659777"/>
          </a:xfrm>
          <a:prstGeom prst="line">
            <a:avLst/>
          </a:prstGeom>
          <a:ln w="19050">
            <a:solidFill>
              <a:srgbClr val="FF00FF"/>
            </a:solidFill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5" name="Isosceles Triangle 14"/>
          <p:cNvSpPr/>
          <p:nvPr/>
        </p:nvSpPr>
        <p:spPr>
          <a:xfrm>
            <a:off x="2985030" y="3150511"/>
            <a:ext cx="144000" cy="144000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61"/>
          <p:cNvSpPr/>
          <p:nvPr/>
        </p:nvSpPr>
        <p:spPr>
          <a:xfrm>
            <a:off x="7837412" y="3206446"/>
            <a:ext cx="144000" cy="144000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16"/>
          <p:cNvSpPr txBox="1"/>
          <p:nvPr/>
        </p:nvSpPr>
        <p:spPr>
          <a:xfrm>
            <a:off x="2903868" y="4779647"/>
            <a:ext cx="8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/>
              <a:t>1.0 km</a:t>
            </a:r>
            <a:endParaRPr lang="en-US"/>
          </a:p>
        </p:txBody>
      </p:sp>
      <p:sp>
        <p:nvSpPr>
          <p:cNvPr id="38" name="TextBox 66"/>
          <p:cNvSpPr txBox="1"/>
          <p:nvPr/>
        </p:nvSpPr>
        <p:spPr>
          <a:xfrm>
            <a:off x="5441630" y="4800483"/>
            <a:ext cx="8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/>
              <a:t>0.8 km</a:t>
            </a:r>
            <a:endParaRPr lang="en-US"/>
          </a:p>
        </p:txBody>
      </p:sp>
      <p:sp>
        <p:nvSpPr>
          <p:cNvPr id="39" name="TextBox 67"/>
          <p:cNvSpPr txBox="1"/>
          <p:nvPr/>
        </p:nvSpPr>
        <p:spPr>
          <a:xfrm>
            <a:off x="8184763" y="4811577"/>
            <a:ext cx="8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/>
              <a:t>1.2 km</a:t>
            </a:r>
            <a:endParaRPr lang="en-US"/>
          </a:p>
        </p:txBody>
      </p:sp>
      <p:sp>
        <p:nvSpPr>
          <p:cNvPr id="40" name="Left Brace 68"/>
          <p:cNvSpPr/>
          <p:nvPr/>
        </p:nvSpPr>
        <p:spPr>
          <a:xfrm rot="16200000">
            <a:off x="3046736" y="3006318"/>
            <a:ext cx="375151" cy="260001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69"/>
          <p:cNvSpPr/>
          <p:nvPr/>
        </p:nvSpPr>
        <p:spPr>
          <a:xfrm rot="16200000">
            <a:off x="5597780" y="3082933"/>
            <a:ext cx="375151" cy="2464277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Left Brace 70"/>
          <p:cNvSpPr/>
          <p:nvPr/>
        </p:nvSpPr>
        <p:spPr>
          <a:xfrm rot="16200000">
            <a:off x="8249060" y="2925677"/>
            <a:ext cx="375151" cy="279581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71"/>
          <p:cNvSpPr txBox="1"/>
          <p:nvPr/>
        </p:nvSpPr>
        <p:spPr>
          <a:xfrm>
            <a:off x="2442935" y="2948711"/>
            <a:ext cx="385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>
                <a:solidFill>
                  <a:srgbClr val="FF00FF"/>
                </a:solidFill>
              </a:rPr>
              <a:t>1</a:t>
            </a:r>
            <a:endParaRPr lang="en-US" b="1">
              <a:solidFill>
                <a:srgbClr val="FF00FF"/>
              </a:solidFill>
            </a:endParaRPr>
          </a:p>
        </p:txBody>
      </p:sp>
      <p:sp>
        <p:nvSpPr>
          <p:cNvPr id="44" name="TextBox 72"/>
          <p:cNvSpPr txBox="1"/>
          <p:nvPr/>
        </p:nvSpPr>
        <p:spPr>
          <a:xfrm>
            <a:off x="3655009" y="2965129"/>
            <a:ext cx="385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>
                <a:solidFill>
                  <a:srgbClr val="FF00FF"/>
                </a:solidFill>
              </a:rPr>
              <a:t>2</a:t>
            </a:r>
            <a:endParaRPr lang="en-US" b="1">
              <a:solidFill>
                <a:srgbClr val="FF00FF"/>
              </a:solidFill>
            </a:endParaRPr>
          </a:p>
        </p:txBody>
      </p:sp>
      <p:sp>
        <p:nvSpPr>
          <p:cNvPr id="45" name="TextBox 73"/>
          <p:cNvSpPr txBox="1"/>
          <p:nvPr/>
        </p:nvSpPr>
        <p:spPr>
          <a:xfrm>
            <a:off x="5678613" y="2976223"/>
            <a:ext cx="385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>
                <a:solidFill>
                  <a:srgbClr val="FF00FF"/>
                </a:solidFill>
              </a:rPr>
              <a:t>3</a:t>
            </a:r>
            <a:endParaRPr lang="en-US" b="1">
              <a:solidFill>
                <a:srgbClr val="FF00FF"/>
              </a:solidFill>
            </a:endParaRPr>
          </a:p>
        </p:txBody>
      </p:sp>
      <p:sp>
        <p:nvSpPr>
          <p:cNvPr id="46" name="TextBox 75"/>
          <p:cNvSpPr txBox="1"/>
          <p:nvPr/>
        </p:nvSpPr>
        <p:spPr>
          <a:xfrm>
            <a:off x="7347277" y="2965406"/>
            <a:ext cx="385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>
                <a:solidFill>
                  <a:srgbClr val="FF00FF"/>
                </a:solidFill>
              </a:rPr>
              <a:t>4</a:t>
            </a:r>
            <a:endParaRPr lang="en-US" b="1">
              <a:solidFill>
                <a:srgbClr val="FF00FF"/>
              </a:solidFill>
            </a:endParaRPr>
          </a:p>
        </p:txBody>
      </p:sp>
      <p:sp>
        <p:nvSpPr>
          <p:cNvPr id="47" name="TextBox 76"/>
          <p:cNvSpPr txBox="1"/>
          <p:nvPr/>
        </p:nvSpPr>
        <p:spPr>
          <a:xfrm>
            <a:off x="8748633" y="2976223"/>
            <a:ext cx="385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>
                <a:solidFill>
                  <a:srgbClr val="FF00FF"/>
                </a:solidFill>
              </a:rPr>
              <a:t>5</a:t>
            </a:r>
            <a:endParaRPr lang="en-US" b="1">
              <a:solidFill>
                <a:srgbClr val="FF00FF"/>
              </a:solidFill>
            </a:endParaRPr>
          </a:p>
        </p:txBody>
      </p:sp>
      <p:sp>
        <p:nvSpPr>
          <p:cNvPr id="48" name="TextBox 77"/>
          <p:cNvSpPr txBox="1"/>
          <p:nvPr/>
        </p:nvSpPr>
        <p:spPr>
          <a:xfrm>
            <a:off x="9970168" y="2965073"/>
            <a:ext cx="385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b="1">
                <a:solidFill>
                  <a:srgbClr val="FF00FF"/>
                </a:solidFill>
              </a:rPr>
              <a:t>6</a:t>
            </a:r>
            <a:endParaRPr lang="en-US" b="1">
              <a:solidFill>
                <a:srgbClr val="FF00FF"/>
              </a:solidFill>
            </a:endParaRPr>
          </a:p>
        </p:txBody>
      </p:sp>
      <p:sp>
        <p:nvSpPr>
          <p:cNvPr id="49" name="TextBox 53"/>
          <p:cNvSpPr txBox="1"/>
          <p:nvPr/>
        </p:nvSpPr>
        <p:spPr>
          <a:xfrm>
            <a:off x="2169545" y="3141362"/>
            <a:ext cx="8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FF00FF"/>
                </a:solidFill>
              </a:rPr>
              <a:t>0.4 km</a:t>
            </a:r>
            <a:endParaRPr lang="en-US">
              <a:solidFill>
                <a:srgbClr val="FF00FF"/>
              </a:solidFill>
            </a:endParaRPr>
          </a:p>
        </p:txBody>
      </p:sp>
      <p:sp>
        <p:nvSpPr>
          <p:cNvPr id="50" name="TextBox 54"/>
          <p:cNvSpPr txBox="1"/>
          <p:nvPr/>
        </p:nvSpPr>
        <p:spPr>
          <a:xfrm>
            <a:off x="3395714" y="3155232"/>
            <a:ext cx="8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FF00FF"/>
                </a:solidFill>
              </a:rPr>
              <a:t>0.6 km</a:t>
            </a:r>
            <a:endParaRPr lang="en-US">
              <a:solidFill>
                <a:srgbClr val="FF00FF"/>
              </a:solidFill>
            </a:endParaRPr>
          </a:p>
        </p:txBody>
      </p:sp>
      <p:sp>
        <p:nvSpPr>
          <p:cNvPr id="51" name="TextBox 74"/>
          <p:cNvSpPr txBox="1"/>
          <p:nvPr/>
        </p:nvSpPr>
        <p:spPr>
          <a:xfrm>
            <a:off x="5460910" y="3162427"/>
            <a:ext cx="8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FF00FF"/>
                </a:solidFill>
              </a:rPr>
              <a:t>0.8 km</a:t>
            </a:r>
            <a:endParaRPr lang="en-US">
              <a:solidFill>
                <a:srgbClr val="FF00FF"/>
              </a:solidFill>
            </a:endParaRPr>
          </a:p>
        </p:txBody>
      </p:sp>
      <p:sp>
        <p:nvSpPr>
          <p:cNvPr id="52" name="TextBox 78"/>
          <p:cNvSpPr txBox="1"/>
          <p:nvPr/>
        </p:nvSpPr>
        <p:spPr>
          <a:xfrm>
            <a:off x="7087687" y="3155097"/>
            <a:ext cx="8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FF00FF"/>
                </a:solidFill>
              </a:rPr>
              <a:t>0.3 km</a:t>
            </a:r>
            <a:endParaRPr lang="en-US">
              <a:solidFill>
                <a:srgbClr val="FF00FF"/>
              </a:solidFill>
            </a:endParaRPr>
          </a:p>
        </p:txBody>
      </p:sp>
      <p:sp>
        <p:nvSpPr>
          <p:cNvPr id="53" name="TextBox 79"/>
          <p:cNvSpPr txBox="1"/>
          <p:nvPr/>
        </p:nvSpPr>
        <p:spPr>
          <a:xfrm>
            <a:off x="8544687" y="3155097"/>
            <a:ext cx="8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FF00FF"/>
                </a:solidFill>
              </a:rPr>
              <a:t>0.9 km</a:t>
            </a:r>
            <a:endParaRPr lang="en-US">
              <a:solidFill>
                <a:srgbClr val="FF00FF"/>
              </a:solidFill>
            </a:endParaRPr>
          </a:p>
        </p:txBody>
      </p:sp>
      <p:sp>
        <p:nvSpPr>
          <p:cNvPr id="54" name="TextBox 80"/>
          <p:cNvSpPr txBox="1"/>
          <p:nvPr/>
        </p:nvSpPr>
        <p:spPr>
          <a:xfrm>
            <a:off x="9757147" y="3150152"/>
            <a:ext cx="8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FF00FF"/>
                </a:solidFill>
              </a:rPr>
              <a:t>0.2 km</a:t>
            </a:r>
            <a:endParaRPr lang="en-US">
              <a:solidFill>
                <a:srgbClr val="FF00FF"/>
              </a:solidFill>
            </a:endParaRPr>
          </a:p>
        </p:txBody>
      </p:sp>
      <p:sp>
        <p:nvSpPr>
          <p:cNvPr id="55" name="TextBox 81"/>
          <p:cNvSpPr txBox="1"/>
          <p:nvPr/>
        </p:nvSpPr>
        <p:spPr>
          <a:xfrm>
            <a:off x="8388912" y="1424240"/>
            <a:ext cx="155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With </a:t>
            </a:r>
            <a:r>
              <a:rPr lang="en-US" b="1">
                <a:solidFill>
                  <a:srgbClr val="C00000"/>
                </a:solidFill>
              </a:rPr>
              <a:t>AID</a:t>
            </a:r>
            <a:r>
              <a:rPr lang="en-US" b="1"/>
              <a:t> data only</a:t>
            </a:r>
            <a:endParaRPr lang="en-US"/>
          </a:p>
        </p:txBody>
      </p:sp>
      <p:sp>
        <p:nvSpPr>
          <p:cNvPr id="56" name="Left Brace 82"/>
          <p:cNvSpPr/>
          <p:nvPr/>
        </p:nvSpPr>
        <p:spPr>
          <a:xfrm rot="5400000">
            <a:off x="8947437" y="924488"/>
            <a:ext cx="433290" cy="2509341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84"/>
          <p:cNvSpPr txBox="1"/>
          <p:nvPr/>
        </p:nvSpPr>
        <p:spPr>
          <a:xfrm>
            <a:off x="2522619" y="4455606"/>
            <a:ext cx="177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/>
              <a:t>IRN segment 1</a:t>
            </a:r>
            <a:endParaRPr lang="en-US"/>
          </a:p>
        </p:txBody>
      </p:sp>
      <p:sp>
        <p:nvSpPr>
          <p:cNvPr id="58" name="TextBox 85"/>
          <p:cNvSpPr txBox="1"/>
          <p:nvPr/>
        </p:nvSpPr>
        <p:spPr>
          <a:xfrm>
            <a:off x="5115404" y="4463696"/>
            <a:ext cx="177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/>
              <a:t>IRN segment 2</a:t>
            </a:r>
            <a:endParaRPr lang="en-US"/>
          </a:p>
        </p:txBody>
      </p:sp>
      <p:sp>
        <p:nvSpPr>
          <p:cNvPr id="59" name="TextBox 86"/>
          <p:cNvSpPr txBox="1"/>
          <p:nvPr/>
        </p:nvSpPr>
        <p:spPr>
          <a:xfrm>
            <a:off x="7732798" y="4462417"/>
            <a:ext cx="177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/>
              <a:t>IRN segment 3</a:t>
            </a:r>
            <a:endParaRPr lang="en-US"/>
          </a:p>
        </p:txBody>
      </p:sp>
      <p:sp>
        <p:nvSpPr>
          <p:cNvPr id="60" name="TextBox 87"/>
          <p:cNvSpPr txBox="1"/>
          <p:nvPr/>
        </p:nvSpPr>
        <p:spPr>
          <a:xfrm>
            <a:off x="2853981" y="2367978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00FF"/>
                </a:solidFill>
              </a:rPr>
              <a:t>BT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61" name="TextBox 88"/>
          <p:cNvSpPr txBox="1"/>
          <p:nvPr/>
        </p:nvSpPr>
        <p:spPr>
          <a:xfrm>
            <a:off x="1592480" y="2407018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C00000"/>
                </a:solidFill>
              </a:rPr>
              <a:t>AID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62" name="TextBox 89"/>
          <p:cNvSpPr txBox="1"/>
          <p:nvPr/>
        </p:nvSpPr>
        <p:spPr>
          <a:xfrm>
            <a:off x="10097926" y="2347180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C00000"/>
                </a:solidFill>
              </a:rPr>
              <a:t>AID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63" name="TextBox 90"/>
          <p:cNvSpPr txBox="1"/>
          <p:nvPr/>
        </p:nvSpPr>
        <p:spPr>
          <a:xfrm>
            <a:off x="6705265" y="2401393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C00000"/>
                </a:solidFill>
              </a:rPr>
              <a:t>AID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64" name="TextBox 91"/>
          <p:cNvSpPr txBox="1"/>
          <p:nvPr/>
        </p:nvSpPr>
        <p:spPr>
          <a:xfrm>
            <a:off x="7725409" y="2351924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00FF"/>
                </a:solidFill>
              </a:rPr>
              <a:t>BT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65" name="TextBox 92"/>
          <p:cNvSpPr txBox="1"/>
          <p:nvPr/>
        </p:nvSpPr>
        <p:spPr>
          <a:xfrm>
            <a:off x="3638855" y="3853799"/>
            <a:ext cx="390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Segments with both </a:t>
            </a:r>
            <a:r>
              <a:rPr lang="en-US" b="1">
                <a:solidFill>
                  <a:srgbClr val="0000FF"/>
                </a:solidFill>
              </a:rPr>
              <a:t>BT</a:t>
            </a:r>
            <a:r>
              <a:rPr lang="en-US" b="1">
                <a:solidFill>
                  <a:schemeClr val="accent2"/>
                </a:solidFill>
              </a:rPr>
              <a:t> </a:t>
            </a:r>
            <a:r>
              <a:rPr lang="en-US" b="1"/>
              <a:t>and</a:t>
            </a:r>
            <a:r>
              <a:rPr lang="en-US" b="1">
                <a:solidFill>
                  <a:schemeClr val="accent2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AID</a:t>
            </a:r>
            <a:r>
              <a:rPr lang="en-US" b="1">
                <a:solidFill>
                  <a:schemeClr val="accent2"/>
                </a:solidFill>
              </a:rPr>
              <a:t> </a:t>
            </a:r>
            <a:r>
              <a:rPr lang="en-US" b="1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95417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4" grpId="0" animBg="1"/>
      <p:bldP spid="37" grpId="0"/>
      <p:bldP spid="38" grpId="0"/>
      <p:bldP spid="39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 animBg="1"/>
      <p:bldP spid="6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IRN Segments </a:t>
            </a:r>
            <a:r>
              <a:rPr lang="en-US" sz="3600" u="sng" dirty="0"/>
              <a:t>with </a:t>
            </a:r>
            <a:r>
              <a:rPr lang="en-US" sz="3600" u="sng" dirty="0">
                <a:solidFill>
                  <a:srgbClr val="C00000"/>
                </a:solidFill>
              </a:rPr>
              <a:t>AID</a:t>
            </a:r>
            <a:r>
              <a:rPr lang="en-US" sz="3600" u="sng" dirty="0"/>
              <a:t> Detector Data Only</a:t>
            </a:r>
            <a:r>
              <a:rPr lang="en-US" sz="3600" dirty="0"/>
              <a:t>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Box 8"/>
          <p:cNvSpPr txBox="1"/>
          <p:nvPr/>
        </p:nvSpPr>
        <p:spPr>
          <a:xfrm>
            <a:off x="6700150" y="3516543"/>
            <a:ext cx="306997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HK"/>
              <a:t>Estimate the </a:t>
            </a:r>
            <a:r>
              <a:rPr lang="en-HK">
                <a:solidFill>
                  <a:srgbClr val="FF0000"/>
                </a:solidFill>
              </a:rPr>
              <a:t>Average Speed </a:t>
            </a:r>
            <a:r>
              <a:rPr lang="en-HK"/>
              <a:t>on IRN based on </a:t>
            </a:r>
            <a:r>
              <a:rPr lang="en-HK">
                <a:solidFill>
                  <a:srgbClr val="C00000"/>
                </a:solidFill>
              </a:rPr>
              <a:t>AID</a:t>
            </a:r>
            <a:r>
              <a:rPr lang="en-HK"/>
              <a:t> Speed Data Only</a:t>
            </a:r>
            <a:endParaRPr lang="en-US"/>
          </a:p>
        </p:txBody>
      </p:sp>
      <p:sp>
        <p:nvSpPr>
          <p:cNvPr id="6" name="TextBox 11"/>
          <p:cNvSpPr txBox="1"/>
          <p:nvPr/>
        </p:nvSpPr>
        <p:spPr>
          <a:xfrm>
            <a:off x="6746644" y="5245132"/>
            <a:ext cx="28115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HK"/>
              <a:t>Use Speed Limit</a:t>
            </a:r>
            <a:endParaRPr lang="en-US"/>
          </a:p>
        </p:txBody>
      </p:sp>
      <p:sp>
        <p:nvSpPr>
          <p:cNvPr id="7" name="TextBox 14"/>
          <p:cNvSpPr txBox="1"/>
          <p:nvPr/>
        </p:nvSpPr>
        <p:spPr>
          <a:xfrm>
            <a:off x="3345134" y="3516543"/>
            <a:ext cx="262633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HK"/>
              <a:t>No. of Validated </a:t>
            </a:r>
            <a:r>
              <a:rPr lang="en-HK">
                <a:solidFill>
                  <a:srgbClr val="C00000"/>
                </a:solidFill>
              </a:rPr>
              <a:t>AID </a:t>
            </a:r>
            <a:r>
              <a:rPr lang="en-HK"/>
              <a:t>Speed Data at 2-min Intervals </a:t>
            </a:r>
            <a:r>
              <a:rPr lang="en-HK" b="1">
                <a:solidFill>
                  <a:srgbClr val="FF0000"/>
                </a:solidFill>
              </a:rPr>
              <a:t>&gt; 0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8" name="TextBox 16"/>
          <p:cNvSpPr txBox="1"/>
          <p:nvPr/>
        </p:nvSpPr>
        <p:spPr>
          <a:xfrm>
            <a:off x="3368186" y="4964944"/>
            <a:ext cx="262633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HK"/>
              <a:t>No. of Validated </a:t>
            </a:r>
            <a:r>
              <a:rPr lang="en-HK">
                <a:solidFill>
                  <a:srgbClr val="C00000"/>
                </a:solidFill>
              </a:rPr>
              <a:t>AID</a:t>
            </a:r>
            <a:r>
              <a:rPr lang="en-HK"/>
              <a:t> Speed Data at 2-min Intervals </a:t>
            </a:r>
            <a:r>
              <a:rPr lang="en-HK" b="1">
                <a:solidFill>
                  <a:srgbClr val="FF0000"/>
                </a:solidFill>
              </a:rPr>
              <a:t>= 0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9" name="Right Arrow 18"/>
          <p:cNvSpPr/>
          <p:nvPr/>
        </p:nvSpPr>
        <p:spPr>
          <a:xfrm>
            <a:off x="6038804" y="3825808"/>
            <a:ext cx="61744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19"/>
          <p:cNvSpPr/>
          <p:nvPr/>
        </p:nvSpPr>
        <p:spPr>
          <a:xfrm>
            <a:off x="6061855" y="5309664"/>
            <a:ext cx="61744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25"/>
          <p:cNvSpPr txBox="1"/>
          <p:nvPr/>
        </p:nvSpPr>
        <p:spPr>
          <a:xfrm>
            <a:off x="1151432" y="3647290"/>
            <a:ext cx="678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/>
              <a:t>(1)</a:t>
            </a:r>
            <a:endParaRPr lang="en-US" sz="2800"/>
          </a:p>
        </p:txBody>
      </p:sp>
      <p:sp>
        <p:nvSpPr>
          <p:cNvPr id="12" name="TextBox 26"/>
          <p:cNvSpPr txBox="1"/>
          <p:nvPr/>
        </p:nvSpPr>
        <p:spPr>
          <a:xfrm>
            <a:off x="1166894" y="5127890"/>
            <a:ext cx="678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/>
              <a:t>(2)</a:t>
            </a:r>
            <a:endParaRPr lang="en-US" sz="2800"/>
          </a:p>
        </p:txBody>
      </p:sp>
      <p:sp>
        <p:nvSpPr>
          <p:cNvPr id="13" name="Rectangle 55"/>
          <p:cNvSpPr/>
          <p:nvPr/>
        </p:nvSpPr>
        <p:spPr>
          <a:xfrm rot="16200000">
            <a:off x="6755262" y="2826766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56"/>
          <p:cNvSpPr/>
          <p:nvPr/>
        </p:nvSpPr>
        <p:spPr>
          <a:xfrm rot="16200000">
            <a:off x="1678411" y="2824630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5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58436" y="2266685"/>
            <a:ext cx="461751" cy="462087"/>
          </a:xfrm>
          <a:prstGeom prst="rect">
            <a:avLst/>
          </a:prstGeom>
        </p:spPr>
      </p:pic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1491506" y="2733019"/>
            <a:ext cx="29260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58"/>
          <p:cNvSpPr>
            <a:spLocks noChangeShapeType="1"/>
          </p:cNvSpPr>
          <p:nvPr/>
        </p:nvSpPr>
        <p:spPr bwMode="auto">
          <a:xfrm flipV="1">
            <a:off x="5021887" y="2504772"/>
            <a:ext cx="737304" cy="22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5"/>
          <p:cNvSpPr>
            <a:spLocks noChangeShapeType="1"/>
          </p:cNvSpPr>
          <p:nvPr/>
        </p:nvSpPr>
        <p:spPr bwMode="auto">
          <a:xfrm>
            <a:off x="1487386" y="3065239"/>
            <a:ext cx="94183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83"/>
          <p:cNvSpPr>
            <a:spLocks noChangeShapeType="1"/>
          </p:cNvSpPr>
          <p:nvPr/>
        </p:nvSpPr>
        <p:spPr bwMode="auto">
          <a:xfrm>
            <a:off x="1792185" y="2887864"/>
            <a:ext cx="88696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0" name="Picture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37311" y="2236468"/>
            <a:ext cx="461751" cy="462087"/>
          </a:xfrm>
          <a:prstGeom prst="rect">
            <a:avLst/>
          </a:prstGeom>
        </p:spPr>
      </p:pic>
      <p:sp>
        <p:nvSpPr>
          <p:cNvPr id="21" name="Line 58"/>
          <p:cNvSpPr>
            <a:spLocks noChangeShapeType="1"/>
          </p:cNvSpPr>
          <p:nvPr/>
        </p:nvSpPr>
        <p:spPr bwMode="auto">
          <a:xfrm flipV="1">
            <a:off x="4416534" y="2363309"/>
            <a:ext cx="1019361" cy="3673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5"/>
          <p:cNvSpPr>
            <a:spLocks noChangeShapeType="1"/>
          </p:cNvSpPr>
          <p:nvPr/>
        </p:nvSpPr>
        <p:spPr bwMode="auto">
          <a:xfrm>
            <a:off x="5011377" y="2735897"/>
            <a:ext cx="603504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Oval 70"/>
          <p:cNvSpPr/>
          <p:nvPr/>
        </p:nvSpPr>
        <p:spPr>
          <a:xfrm>
            <a:off x="1691115" y="283117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71"/>
          <p:cNvSpPr/>
          <p:nvPr/>
        </p:nvSpPr>
        <p:spPr>
          <a:xfrm>
            <a:off x="4302442" y="284446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72"/>
          <p:cNvSpPr/>
          <p:nvPr/>
        </p:nvSpPr>
        <p:spPr>
          <a:xfrm>
            <a:off x="6772048" y="2834458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73"/>
          <p:cNvSpPr/>
          <p:nvPr/>
        </p:nvSpPr>
        <p:spPr>
          <a:xfrm>
            <a:off x="9591355" y="28361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831" y="2271254"/>
            <a:ext cx="492993" cy="442945"/>
          </a:xfrm>
          <a:prstGeom prst="rect">
            <a:avLst/>
          </a:prstGeom>
        </p:spPr>
      </p:pic>
      <p:pic>
        <p:nvPicPr>
          <p:cNvPr id="28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875" y="2301994"/>
            <a:ext cx="492993" cy="442945"/>
          </a:xfrm>
          <a:prstGeom prst="rect">
            <a:avLst/>
          </a:prstGeom>
        </p:spPr>
      </p:pic>
      <p:sp>
        <p:nvSpPr>
          <p:cNvPr id="29" name="Rectangle 81"/>
          <p:cNvSpPr/>
          <p:nvPr/>
        </p:nvSpPr>
        <p:spPr>
          <a:xfrm rot="16200000">
            <a:off x="10146709" y="2808469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231" y="2247662"/>
            <a:ext cx="492993" cy="442945"/>
          </a:xfrm>
          <a:prstGeom prst="rect">
            <a:avLst/>
          </a:prstGeom>
        </p:spPr>
      </p:pic>
      <p:cxnSp>
        <p:nvCxnSpPr>
          <p:cNvPr id="31" name="Straight Arrow Connector 83"/>
          <p:cNvCxnSpPr/>
          <p:nvPr/>
        </p:nvCxnSpPr>
        <p:spPr>
          <a:xfrm flipV="1">
            <a:off x="4345129" y="2437067"/>
            <a:ext cx="1162610" cy="445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85"/>
          <p:cNvSpPr/>
          <p:nvPr/>
        </p:nvSpPr>
        <p:spPr>
          <a:xfrm>
            <a:off x="2795840" y="2779719"/>
            <a:ext cx="144000" cy="144000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86"/>
          <p:cNvSpPr/>
          <p:nvPr/>
        </p:nvSpPr>
        <p:spPr>
          <a:xfrm>
            <a:off x="7648222" y="2835654"/>
            <a:ext cx="144000" cy="144000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6"/>
          <p:cNvSpPr txBox="1"/>
          <p:nvPr/>
        </p:nvSpPr>
        <p:spPr>
          <a:xfrm>
            <a:off x="2657333" y="1976516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00FF"/>
                </a:solidFill>
              </a:rPr>
              <a:t>BT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35" name="TextBox 37"/>
          <p:cNvSpPr txBox="1"/>
          <p:nvPr/>
        </p:nvSpPr>
        <p:spPr>
          <a:xfrm>
            <a:off x="1366336" y="2012464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C00000"/>
                </a:solidFill>
              </a:rPr>
              <a:t>AID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6" name="TextBox 38"/>
          <p:cNvSpPr txBox="1"/>
          <p:nvPr/>
        </p:nvSpPr>
        <p:spPr>
          <a:xfrm>
            <a:off x="9930635" y="1965689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C00000"/>
                </a:solidFill>
              </a:rPr>
              <a:t>AID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7" name="TextBox 39"/>
          <p:cNvSpPr txBox="1"/>
          <p:nvPr/>
        </p:nvSpPr>
        <p:spPr>
          <a:xfrm>
            <a:off x="6498785" y="1902057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C00000"/>
                </a:solidFill>
              </a:rPr>
              <a:t>AID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8" name="TextBox 40"/>
          <p:cNvSpPr txBox="1"/>
          <p:nvPr/>
        </p:nvSpPr>
        <p:spPr>
          <a:xfrm>
            <a:off x="7532131" y="1927735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00FF"/>
                </a:solidFill>
              </a:rPr>
              <a:t>BT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39" name="TextBox 45"/>
          <p:cNvSpPr txBox="1"/>
          <p:nvPr/>
        </p:nvSpPr>
        <p:spPr>
          <a:xfrm>
            <a:off x="1469848" y="1063939"/>
            <a:ext cx="155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With </a:t>
            </a:r>
            <a:r>
              <a:rPr lang="en-US" b="1">
                <a:solidFill>
                  <a:srgbClr val="C00000"/>
                </a:solidFill>
              </a:rPr>
              <a:t>AID</a:t>
            </a:r>
            <a:r>
              <a:rPr lang="en-US" b="1"/>
              <a:t> data only</a:t>
            </a:r>
            <a:endParaRPr lang="en-US"/>
          </a:p>
        </p:txBody>
      </p:sp>
      <p:sp>
        <p:nvSpPr>
          <p:cNvPr id="40" name="Left Brace 46"/>
          <p:cNvSpPr/>
          <p:nvPr/>
        </p:nvSpPr>
        <p:spPr>
          <a:xfrm rot="5400000">
            <a:off x="2052699" y="1236824"/>
            <a:ext cx="375151" cy="1240553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7"/>
          <p:cNvSpPr txBox="1"/>
          <p:nvPr/>
        </p:nvSpPr>
        <p:spPr>
          <a:xfrm>
            <a:off x="8186603" y="992743"/>
            <a:ext cx="155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With </a:t>
            </a:r>
            <a:r>
              <a:rPr lang="en-US" b="1">
                <a:solidFill>
                  <a:srgbClr val="C00000"/>
                </a:solidFill>
              </a:rPr>
              <a:t>AID</a:t>
            </a:r>
            <a:r>
              <a:rPr lang="en-US" b="1"/>
              <a:t> data only</a:t>
            </a:r>
            <a:endParaRPr lang="en-US"/>
          </a:p>
        </p:txBody>
      </p:sp>
      <p:sp>
        <p:nvSpPr>
          <p:cNvPr id="42" name="Left Brace 48"/>
          <p:cNvSpPr/>
          <p:nvPr/>
        </p:nvSpPr>
        <p:spPr>
          <a:xfrm rot="5400000">
            <a:off x="8732065" y="545672"/>
            <a:ext cx="433290" cy="2509341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2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32" grpId="0" animBg="1"/>
      <p:bldP spid="33" grpId="0" animBg="1"/>
      <p:bldP spid="34" grpId="0"/>
      <p:bldP spid="38" grpId="0"/>
      <p:bldP spid="39" grpId="0"/>
      <p:bldP spid="40" grpId="0" animBg="1"/>
      <p:bldP spid="41" grpId="0"/>
      <p:bldP spid="4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IRN Segments </a:t>
            </a:r>
            <a:r>
              <a:rPr lang="en-US" sz="3200" u="sng" dirty="0"/>
              <a:t>with </a:t>
            </a:r>
            <a:r>
              <a:rPr lang="en-US" sz="3200" u="sng" dirty="0" smtClean="0"/>
              <a:t>Both</a:t>
            </a:r>
            <a:r>
              <a:rPr lang="en-US" sz="3200" u="sng" dirty="0"/>
              <a:t> </a:t>
            </a:r>
            <a:r>
              <a:rPr lang="en-US" sz="3200" u="sng" dirty="0" smtClean="0">
                <a:solidFill>
                  <a:srgbClr val="0000FF"/>
                </a:solidFill>
              </a:rPr>
              <a:t>BT</a:t>
            </a:r>
            <a:r>
              <a:rPr lang="en-US" sz="3200" u="sng" dirty="0"/>
              <a:t> </a:t>
            </a:r>
            <a:r>
              <a:rPr lang="en-US" sz="3200" u="sng" dirty="0" smtClean="0"/>
              <a:t>and</a:t>
            </a:r>
            <a:r>
              <a:rPr lang="en-US" sz="3200" u="sng" dirty="0"/>
              <a:t> </a:t>
            </a:r>
            <a:r>
              <a:rPr lang="en-US" sz="3200" u="sng" dirty="0" smtClean="0">
                <a:solidFill>
                  <a:srgbClr val="C00000"/>
                </a:solidFill>
              </a:rPr>
              <a:t>AID</a:t>
            </a:r>
            <a:r>
              <a:rPr lang="en-US" sz="3200" u="sng" dirty="0"/>
              <a:t> </a:t>
            </a:r>
            <a:r>
              <a:rPr lang="en-US" sz="3200" u="sng" dirty="0" smtClean="0"/>
              <a:t>Detector </a:t>
            </a:r>
            <a:r>
              <a:rPr lang="en-US" sz="3200" u="sng" dirty="0"/>
              <a:t>Data</a:t>
            </a:r>
            <a:r>
              <a:rPr lang="en-US" sz="3200" dirty="0"/>
              <a:t>: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05781" y="3642184"/>
            <a:ext cx="2041861" cy="7571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HK">
                <a:solidFill>
                  <a:srgbClr val="0000FF"/>
                </a:solidFill>
              </a:rPr>
              <a:t>BT</a:t>
            </a:r>
            <a:r>
              <a:rPr lang="en-HK"/>
              <a:t> Travel Time Data at 2-min Interval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6" name="TextBox 10"/>
          <p:cNvSpPr txBox="1"/>
          <p:nvPr/>
        </p:nvSpPr>
        <p:spPr>
          <a:xfrm>
            <a:off x="8443919" y="3471427"/>
            <a:ext cx="3006311" cy="12311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HK" sz="2000" b="1" dirty="0"/>
              <a:t>Fuse</a:t>
            </a:r>
            <a:r>
              <a:rPr lang="en-HK" dirty="0"/>
              <a:t> </a:t>
            </a:r>
            <a:r>
              <a:rPr lang="en-HK" dirty="0">
                <a:solidFill>
                  <a:srgbClr val="0000FF"/>
                </a:solidFill>
              </a:rPr>
              <a:t>BT</a:t>
            </a:r>
            <a:r>
              <a:rPr lang="en-HK" dirty="0"/>
              <a:t> Travel Time and </a:t>
            </a:r>
            <a:r>
              <a:rPr lang="en-HK" dirty="0">
                <a:solidFill>
                  <a:srgbClr val="C00000"/>
                </a:solidFill>
              </a:rPr>
              <a:t>AID</a:t>
            </a:r>
            <a:r>
              <a:rPr lang="en-HK" dirty="0"/>
              <a:t> Speed Data </a:t>
            </a:r>
            <a:r>
              <a:rPr lang="en-HK" dirty="0" smtClean="0"/>
              <a:t>by </a:t>
            </a:r>
            <a:r>
              <a:rPr lang="en-HK" dirty="0" smtClean="0">
                <a:solidFill>
                  <a:srgbClr val="800000"/>
                </a:solidFill>
              </a:rPr>
              <a:t>fusion ratio</a:t>
            </a:r>
            <a:r>
              <a:rPr lang="en-HK" dirty="0" smtClean="0"/>
              <a:t> </a:t>
            </a:r>
            <a:r>
              <a:rPr lang="en-HK" b="1" i="1" dirty="0" smtClean="0">
                <a:solidFill>
                  <a:srgbClr val="800000"/>
                </a:solidFill>
              </a:rPr>
              <a:t>R*</a:t>
            </a:r>
            <a:r>
              <a:rPr lang="en-HK" dirty="0" smtClean="0"/>
              <a:t> for </a:t>
            </a:r>
            <a:r>
              <a:rPr lang="en-HK" dirty="0">
                <a:solidFill>
                  <a:srgbClr val="FF0000"/>
                </a:solidFill>
              </a:rPr>
              <a:t>Average Speed </a:t>
            </a:r>
            <a:r>
              <a:rPr lang="en-HK" dirty="0"/>
              <a:t>Estimation on IRN at 2-min </a:t>
            </a:r>
            <a:r>
              <a:rPr lang="en-HK" dirty="0" smtClean="0"/>
              <a:t>Interval</a:t>
            </a:r>
            <a:endParaRPr lang="en-US" dirty="0"/>
          </a:p>
        </p:txBody>
      </p:sp>
      <p:sp>
        <p:nvSpPr>
          <p:cNvPr id="7" name="TextBox 12"/>
          <p:cNvSpPr txBox="1"/>
          <p:nvPr/>
        </p:nvSpPr>
        <p:spPr>
          <a:xfrm>
            <a:off x="4932614" y="3559084"/>
            <a:ext cx="262633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HK"/>
              <a:t>No. of Validated </a:t>
            </a:r>
            <a:r>
              <a:rPr lang="en-HK">
                <a:solidFill>
                  <a:srgbClr val="C00000"/>
                </a:solidFill>
              </a:rPr>
              <a:t>AID</a:t>
            </a:r>
            <a:r>
              <a:rPr lang="en-HK"/>
              <a:t> Speed Data at 2-min Interval </a:t>
            </a:r>
            <a:r>
              <a:rPr lang="en-HK" b="1">
                <a:solidFill>
                  <a:srgbClr val="FF0000"/>
                </a:solidFill>
              </a:rPr>
              <a:t>&gt; 0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8" name="Right Arrow 17"/>
          <p:cNvSpPr/>
          <p:nvPr/>
        </p:nvSpPr>
        <p:spPr>
          <a:xfrm>
            <a:off x="7677250" y="3927243"/>
            <a:ext cx="61744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1"/>
              <p:cNvSpPr txBox="1"/>
              <p:nvPr/>
            </p:nvSpPr>
            <p:spPr>
              <a:xfrm>
                <a:off x="4272145" y="3745853"/>
                <a:ext cx="4488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6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145" y="3745853"/>
                <a:ext cx="44884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24"/>
          <p:cNvSpPr txBox="1"/>
          <p:nvPr/>
        </p:nvSpPr>
        <p:spPr>
          <a:xfrm>
            <a:off x="923573" y="3699687"/>
            <a:ext cx="767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/>
              <a:t>(3a)</a:t>
            </a:r>
            <a:endParaRPr lang="en-US" sz="2800"/>
          </a:p>
        </p:txBody>
      </p:sp>
      <p:sp>
        <p:nvSpPr>
          <p:cNvPr id="11" name="TextBox 83"/>
          <p:cNvSpPr txBox="1"/>
          <p:nvPr/>
        </p:nvSpPr>
        <p:spPr>
          <a:xfrm>
            <a:off x="8419403" y="5242378"/>
            <a:ext cx="303082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HK"/>
              <a:t>Estimate the </a:t>
            </a:r>
            <a:r>
              <a:rPr lang="en-HK">
                <a:solidFill>
                  <a:srgbClr val="FF0000"/>
                </a:solidFill>
              </a:rPr>
              <a:t>Average Speed </a:t>
            </a:r>
            <a:r>
              <a:rPr lang="en-HK"/>
              <a:t>on IRN based on </a:t>
            </a:r>
            <a:r>
              <a:rPr lang="en-HK">
                <a:solidFill>
                  <a:srgbClr val="C00000"/>
                </a:solidFill>
              </a:rPr>
              <a:t>AID</a:t>
            </a:r>
            <a:r>
              <a:rPr lang="en-HK"/>
              <a:t> Speed Data Only</a:t>
            </a:r>
            <a:endParaRPr lang="en-US"/>
          </a:p>
        </p:txBody>
      </p:sp>
      <p:sp>
        <p:nvSpPr>
          <p:cNvPr id="12" name="TextBox 84"/>
          <p:cNvSpPr txBox="1"/>
          <p:nvPr/>
        </p:nvSpPr>
        <p:spPr>
          <a:xfrm>
            <a:off x="4932614" y="5242378"/>
            <a:ext cx="262633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HK"/>
              <a:t>No. of Validated </a:t>
            </a:r>
            <a:r>
              <a:rPr lang="en-HK">
                <a:solidFill>
                  <a:srgbClr val="C00000"/>
                </a:solidFill>
              </a:rPr>
              <a:t>AID</a:t>
            </a:r>
            <a:r>
              <a:rPr lang="en-HK"/>
              <a:t> Speed Data at 2-min Interval </a:t>
            </a:r>
            <a:r>
              <a:rPr lang="en-HK" b="1">
                <a:solidFill>
                  <a:srgbClr val="FF0000"/>
                </a:solidFill>
              </a:rPr>
              <a:t>&gt; 0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3" name="Right Arrow 85"/>
          <p:cNvSpPr/>
          <p:nvPr/>
        </p:nvSpPr>
        <p:spPr>
          <a:xfrm>
            <a:off x="7677250" y="5510059"/>
            <a:ext cx="61744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6"/>
              <p:cNvSpPr txBox="1"/>
              <p:nvPr/>
            </p:nvSpPr>
            <p:spPr>
              <a:xfrm>
                <a:off x="4487439" y="5385460"/>
                <a:ext cx="4488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6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439" y="5385460"/>
                <a:ext cx="44884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87"/>
          <p:cNvSpPr txBox="1"/>
          <p:nvPr/>
        </p:nvSpPr>
        <p:spPr>
          <a:xfrm>
            <a:off x="924908" y="5464833"/>
            <a:ext cx="874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/>
              <a:t>(3b)</a:t>
            </a:r>
            <a:endParaRPr lang="en-US" sz="2800"/>
          </a:p>
        </p:txBody>
      </p:sp>
      <p:sp>
        <p:nvSpPr>
          <p:cNvPr id="16" name="TextBox 88"/>
          <p:cNvSpPr txBox="1"/>
          <p:nvPr/>
        </p:nvSpPr>
        <p:spPr>
          <a:xfrm>
            <a:off x="1837868" y="5126278"/>
            <a:ext cx="262633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HK">
                <a:solidFill>
                  <a:srgbClr val="0000FF"/>
                </a:solidFill>
              </a:rPr>
              <a:t>BT</a:t>
            </a:r>
            <a:r>
              <a:rPr lang="en-HK"/>
              <a:t> Travel Time Data at 2-min Interval (but </a:t>
            </a:r>
            <a:r>
              <a:rPr lang="en-HK">
                <a:solidFill>
                  <a:srgbClr val="FF00FF"/>
                </a:solidFill>
              </a:rPr>
              <a:t>without change in</a:t>
            </a:r>
            <a:r>
              <a:rPr lang="en-US">
                <a:solidFill>
                  <a:srgbClr val="FF00FF"/>
                </a:solidFill>
              </a:rPr>
              <a:t> </a:t>
            </a:r>
            <a:r>
              <a:rPr lang="en-US" b="1">
                <a:solidFill>
                  <a:srgbClr val="FF00FF"/>
                </a:solidFill>
              </a:rPr>
              <a:t>3 or more </a:t>
            </a:r>
            <a:r>
              <a:rPr lang="en-US">
                <a:solidFill>
                  <a:srgbClr val="FF00FF"/>
                </a:solidFill>
              </a:rPr>
              <a:t>successive time intervals</a:t>
            </a:r>
            <a:r>
              <a:rPr lang="en-US"/>
              <a:t>)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7" name="Rectangle 50"/>
          <p:cNvSpPr/>
          <p:nvPr/>
        </p:nvSpPr>
        <p:spPr>
          <a:xfrm rot="16200000">
            <a:off x="6755262" y="1924545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52"/>
          <p:cNvSpPr/>
          <p:nvPr/>
        </p:nvSpPr>
        <p:spPr>
          <a:xfrm rot="16200000">
            <a:off x="1678411" y="1922409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87932" y="1344800"/>
            <a:ext cx="461751" cy="462087"/>
          </a:xfrm>
          <a:prstGeom prst="rect">
            <a:avLst/>
          </a:prstGeom>
        </p:spPr>
      </p:pic>
      <p:sp>
        <p:nvSpPr>
          <p:cNvPr id="20" name="TextBox 62"/>
          <p:cNvSpPr txBox="1"/>
          <p:nvPr/>
        </p:nvSpPr>
        <p:spPr>
          <a:xfrm>
            <a:off x="3439948" y="2770592"/>
            <a:ext cx="390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Segments with both </a:t>
            </a:r>
            <a:r>
              <a:rPr lang="en-US" b="1">
                <a:solidFill>
                  <a:srgbClr val="0000FF"/>
                </a:solidFill>
              </a:rPr>
              <a:t>BT</a:t>
            </a:r>
            <a:r>
              <a:rPr lang="en-US" b="1">
                <a:solidFill>
                  <a:schemeClr val="accent2"/>
                </a:solidFill>
              </a:rPr>
              <a:t> </a:t>
            </a:r>
            <a:r>
              <a:rPr lang="en-US"/>
              <a:t>and</a:t>
            </a:r>
            <a:r>
              <a:rPr lang="en-US" b="1">
                <a:solidFill>
                  <a:schemeClr val="accent2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AID</a:t>
            </a:r>
            <a:r>
              <a:rPr lang="en-US" b="1">
                <a:solidFill>
                  <a:schemeClr val="accent2"/>
                </a:solidFill>
              </a:rPr>
              <a:t> </a:t>
            </a:r>
            <a:r>
              <a:rPr lang="en-US"/>
              <a:t>data</a:t>
            </a:r>
          </a:p>
        </p:txBody>
      </p:sp>
      <p:sp>
        <p:nvSpPr>
          <p:cNvPr id="21" name="Left Brace 63"/>
          <p:cNvSpPr/>
          <p:nvPr/>
        </p:nvSpPr>
        <p:spPr>
          <a:xfrm rot="16200000">
            <a:off x="5094891" y="159006"/>
            <a:ext cx="375151" cy="4853807"/>
          </a:xfrm>
          <a:prstGeom prst="leftBrac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ine 10"/>
          <p:cNvSpPr>
            <a:spLocks noChangeShapeType="1"/>
          </p:cNvSpPr>
          <p:nvPr/>
        </p:nvSpPr>
        <p:spPr bwMode="auto">
          <a:xfrm flipH="1">
            <a:off x="2855563" y="1680000"/>
            <a:ext cx="0" cy="714317"/>
          </a:xfrm>
          <a:prstGeom prst="line">
            <a:avLst/>
          </a:prstGeom>
          <a:ln w="22225">
            <a:solidFill>
              <a:schemeClr val="accent2"/>
            </a:solidFill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1491506" y="1830798"/>
            <a:ext cx="29260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58"/>
          <p:cNvSpPr>
            <a:spLocks noChangeShapeType="1"/>
          </p:cNvSpPr>
          <p:nvPr/>
        </p:nvSpPr>
        <p:spPr bwMode="auto">
          <a:xfrm flipV="1">
            <a:off x="5021887" y="1602551"/>
            <a:ext cx="737304" cy="22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5"/>
          <p:cNvSpPr>
            <a:spLocks noChangeShapeType="1"/>
          </p:cNvSpPr>
          <p:nvPr/>
        </p:nvSpPr>
        <p:spPr bwMode="auto">
          <a:xfrm>
            <a:off x="1487386" y="2163018"/>
            <a:ext cx="94183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83"/>
          <p:cNvSpPr>
            <a:spLocks noChangeShapeType="1"/>
          </p:cNvSpPr>
          <p:nvPr/>
        </p:nvSpPr>
        <p:spPr bwMode="auto">
          <a:xfrm>
            <a:off x="1792185" y="1985643"/>
            <a:ext cx="88696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7" name="Picture 7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37311" y="1334247"/>
            <a:ext cx="461751" cy="462087"/>
          </a:xfrm>
          <a:prstGeom prst="rect">
            <a:avLst/>
          </a:prstGeom>
        </p:spPr>
      </p:pic>
      <p:sp>
        <p:nvSpPr>
          <p:cNvPr id="28" name="Line 58"/>
          <p:cNvSpPr>
            <a:spLocks noChangeShapeType="1"/>
          </p:cNvSpPr>
          <p:nvPr/>
        </p:nvSpPr>
        <p:spPr bwMode="auto">
          <a:xfrm flipV="1">
            <a:off x="4416534" y="1461088"/>
            <a:ext cx="1019361" cy="3673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5011377" y="1833676"/>
            <a:ext cx="603504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Oval 74"/>
          <p:cNvSpPr/>
          <p:nvPr/>
        </p:nvSpPr>
        <p:spPr>
          <a:xfrm>
            <a:off x="1691115" y="1928953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75"/>
          <p:cNvSpPr/>
          <p:nvPr/>
        </p:nvSpPr>
        <p:spPr>
          <a:xfrm>
            <a:off x="4302442" y="1942248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76"/>
          <p:cNvSpPr/>
          <p:nvPr/>
        </p:nvSpPr>
        <p:spPr>
          <a:xfrm>
            <a:off x="6772048" y="1932237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77"/>
          <p:cNvSpPr/>
          <p:nvPr/>
        </p:nvSpPr>
        <p:spPr>
          <a:xfrm>
            <a:off x="9591355" y="193387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831" y="1369033"/>
            <a:ext cx="492993" cy="442945"/>
          </a:xfrm>
          <a:prstGeom prst="rect">
            <a:avLst/>
          </a:prstGeom>
        </p:spPr>
      </p:pic>
      <p:pic>
        <p:nvPicPr>
          <p:cNvPr id="35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875" y="1399773"/>
            <a:ext cx="492993" cy="442945"/>
          </a:xfrm>
          <a:prstGeom prst="rect">
            <a:avLst/>
          </a:prstGeom>
        </p:spPr>
      </p:pic>
      <p:sp>
        <p:nvSpPr>
          <p:cNvPr id="36" name="Rectangle 93"/>
          <p:cNvSpPr/>
          <p:nvPr/>
        </p:nvSpPr>
        <p:spPr>
          <a:xfrm rot="16200000">
            <a:off x="10146709" y="1906248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9231" y="1345441"/>
            <a:ext cx="492993" cy="442945"/>
          </a:xfrm>
          <a:prstGeom prst="rect">
            <a:avLst/>
          </a:prstGeom>
        </p:spPr>
      </p:pic>
      <p:cxnSp>
        <p:nvCxnSpPr>
          <p:cNvPr id="38" name="Straight Arrow Connector 95"/>
          <p:cNvCxnSpPr/>
          <p:nvPr/>
        </p:nvCxnSpPr>
        <p:spPr>
          <a:xfrm flipV="1">
            <a:off x="4345129" y="1534846"/>
            <a:ext cx="1162610" cy="445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97"/>
          <p:cNvSpPr/>
          <p:nvPr/>
        </p:nvSpPr>
        <p:spPr>
          <a:xfrm>
            <a:off x="2795840" y="1877498"/>
            <a:ext cx="144000" cy="144000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98"/>
          <p:cNvSpPr/>
          <p:nvPr/>
        </p:nvSpPr>
        <p:spPr>
          <a:xfrm>
            <a:off x="7648222" y="1933433"/>
            <a:ext cx="144000" cy="144000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ine 10"/>
          <p:cNvSpPr>
            <a:spLocks noChangeShapeType="1"/>
          </p:cNvSpPr>
          <p:nvPr/>
        </p:nvSpPr>
        <p:spPr bwMode="auto">
          <a:xfrm flipH="1">
            <a:off x="7719880" y="1680000"/>
            <a:ext cx="0" cy="714317"/>
          </a:xfrm>
          <a:prstGeom prst="line">
            <a:avLst/>
          </a:prstGeom>
          <a:ln w="22225">
            <a:solidFill>
              <a:schemeClr val="accent2"/>
            </a:solidFill>
            <a:prstDash val="dash"/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2" name="TextBox 1"/>
          <p:cNvSpPr txBox="1"/>
          <p:nvPr/>
        </p:nvSpPr>
        <p:spPr>
          <a:xfrm>
            <a:off x="2598341" y="1040624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00FF"/>
                </a:solidFill>
              </a:rPr>
              <a:t>BT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43" name="TextBox 45"/>
          <p:cNvSpPr txBox="1"/>
          <p:nvPr/>
        </p:nvSpPr>
        <p:spPr>
          <a:xfrm>
            <a:off x="1307344" y="1128824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C00000"/>
                </a:solidFill>
              </a:rPr>
              <a:t>AID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44" name="TextBox 46"/>
          <p:cNvSpPr txBox="1"/>
          <p:nvPr/>
        </p:nvSpPr>
        <p:spPr>
          <a:xfrm>
            <a:off x="9832454" y="1068986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C00000"/>
                </a:solidFill>
              </a:rPr>
              <a:t>AID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45" name="TextBox 47"/>
          <p:cNvSpPr txBox="1"/>
          <p:nvPr/>
        </p:nvSpPr>
        <p:spPr>
          <a:xfrm>
            <a:off x="6439793" y="1044543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C00000"/>
                </a:solidFill>
              </a:rPr>
              <a:t>AID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46" name="TextBox 48"/>
          <p:cNvSpPr txBox="1"/>
          <p:nvPr/>
        </p:nvSpPr>
        <p:spPr>
          <a:xfrm>
            <a:off x="7499265" y="1004906"/>
            <a:ext cx="77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00FF"/>
                </a:solidFill>
              </a:rPr>
              <a:t>BT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47" name="TextBox 2"/>
          <p:cNvSpPr txBox="1"/>
          <p:nvPr/>
        </p:nvSpPr>
        <p:spPr>
          <a:xfrm>
            <a:off x="8469347" y="4683079"/>
            <a:ext cx="2460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 dirty="0" smtClean="0">
                <a:solidFill>
                  <a:srgbClr val="800000"/>
                </a:solidFill>
              </a:rPr>
              <a:t>*</a:t>
            </a:r>
            <a:r>
              <a:rPr lang="en-HK" sz="1600" dirty="0" smtClean="0">
                <a:solidFill>
                  <a:srgbClr val="800000"/>
                </a:solidFill>
              </a:rPr>
              <a:t> 0.8 </a:t>
            </a:r>
            <a:r>
              <a:rPr lang="en-HK" sz="1600" dirty="0" smtClean="0">
                <a:solidFill>
                  <a:srgbClr val="800000"/>
                </a:solidFill>
                <a:sym typeface="Symbol" panose="05050102010706020507" pitchFamily="18" charset="2"/>
              </a:rPr>
              <a:t> </a:t>
            </a:r>
            <a:r>
              <a:rPr lang="en-HK" sz="1600" b="1" i="1" dirty="0" smtClean="0">
                <a:solidFill>
                  <a:srgbClr val="800000"/>
                </a:solidFill>
              </a:rPr>
              <a:t>R</a:t>
            </a:r>
            <a:r>
              <a:rPr lang="en-HK" sz="1600" dirty="0" smtClean="0">
                <a:solidFill>
                  <a:srgbClr val="800000"/>
                </a:solidFill>
              </a:rPr>
              <a:t> </a:t>
            </a:r>
            <a:r>
              <a:rPr lang="en-HK" sz="1600" dirty="0" smtClean="0">
                <a:solidFill>
                  <a:srgbClr val="800000"/>
                </a:solidFill>
                <a:sym typeface="Symbol" panose="05050102010706020507" pitchFamily="18" charset="2"/>
              </a:rPr>
              <a:t> 1.4</a:t>
            </a:r>
            <a:endParaRPr lang="en-US" sz="16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4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4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sz="3600" dirty="0"/>
              <a:t>Malfunction of </a:t>
            </a:r>
            <a:r>
              <a:rPr lang="en-HK" sz="3600" dirty="0">
                <a:solidFill>
                  <a:srgbClr val="0000FF"/>
                </a:solidFill>
              </a:rPr>
              <a:t>BT</a:t>
            </a:r>
            <a:r>
              <a:rPr lang="en-HK" sz="3600" dirty="0"/>
              <a:t> and/or </a:t>
            </a:r>
            <a:r>
              <a:rPr lang="en-HK" sz="3600" dirty="0">
                <a:solidFill>
                  <a:srgbClr val="C00000"/>
                </a:solidFill>
              </a:rPr>
              <a:t>AID</a:t>
            </a:r>
            <a:r>
              <a:rPr lang="en-HK" sz="3600" dirty="0"/>
              <a:t> Detectors</a:t>
            </a:r>
            <a:endParaRPr 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5" name="Table 6"/>
          <p:cNvGraphicFramePr>
            <a:graphicFrameLocks noGrp="1"/>
          </p:cNvGraphicFramePr>
          <p:nvPr>
            <p:extLst/>
          </p:nvPr>
        </p:nvGraphicFramePr>
        <p:xfrm>
          <a:off x="1273391" y="1504814"/>
          <a:ext cx="9814739" cy="3596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638704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61775767"/>
                    </a:ext>
                  </a:extLst>
                </a:gridCol>
                <a:gridCol w="4396073">
                  <a:extLst>
                    <a:ext uri="{9D8B030D-6E8A-4147-A177-3AD203B41FA5}">
                      <a16:colId xmlns:a16="http://schemas.microsoft.com/office/drawing/2014/main" val="1323964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rgbClr val="0000FF"/>
                          </a:solidFill>
                        </a:rPr>
                        <a:t>BT</a:t>
                      </a:r>
                      <a:r>
                        <a:rPr lang="en-US" sz="2800"/>
                        <a:t> Detector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AID</a:t>
                      </a:r>
                      <a:r>
                        <a:rPr lang="en-US" sz="2800" dirty="0"/>
                        <a:t> Detector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Estimation of 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Average Traffic Speeds</a:t>
                      </a:r>
                      <a:r>
                        <a:rPr lang="en-US" sz="2800"/>
                        <a:t> on IRN Road Segments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4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ym typeface="Wingdings" panose="05000000000000000000" pitchFamily="2" charset="2"/>
                        </a:rPr>
                        <a:t></a:t>
                      </a:r>
                      <a:endParaRPr 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ym typeface="Wingdings" panose="05000000000000000000" pitchFamily="2" charset="2"/>
                        </a:rPr>
                        <a:t>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400"/>
                        <a:t>Based on </a:t>
                      </a:r>
                      <a:r>
                        <a:rPr lang="en-HK" sz="2400">
                          <a:solidFill>
                            <a:srgbClr val="C00000"/>
                          </a:solidFill>
                        </a:rPr>
                        <a:t>AID </a:t>
                      </a:r>
                      <a:r>
                        <a:rPr lang="en-HK" sz="2400"/>
                        <a:t>speed data only</a:t>
                      </a:r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915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ym typeface="Wingdings" panose="05000000000000000000" pitchFamily="2" charset="2"/>
                        </a:rPr>
                        <a:t>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Use the most updated relevant historical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029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ym typeface="Wingdings" panose="05000000000000000000" pitchFamily="2" charset="2"/>
                        </a:rPr>
                        <a:t>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ym typeface="Wingdings" panose="05000000000000000000" pitchFamily="2" charset="2"/>
                        </a:rPr>
                        <a:t>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Use the most updated relevant historical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805780"/>
                  </a:ext>
                </a:extLst>
              </a:tr>
            </a:tbl>
          </a:graphicData>
        </a:graphic>
      </p:graphicFrame>
      <p:sp>
        <p:nvSpPr>
          <p:cNvPr id="6" name="TextBox 8"/>
          <p:cNvSpPr txBox="1"/>
          <p:nvPr/>
        </p:nvSpPr>
        <p:spPr>
          <a:xfrm>
            <a:off x="1273391" y="5549469"/>
            <a:ext cx="8033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ym typeface="Wingdings" panose="05000000000000000000" pitchFamily="2" charset="2"/>
              </a:rPr>
              <a:t>Note: </a:t>
            </a:r>
            <a:r>
              <a:rPr lang="en-US" sz="2000">
                <a:sym typeface="Wingdings" panose="05000000000000000000" pitchFamily="2" charset="2"/>
              </a:rPr>
              <a:t>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/>
              <a:t>= out of order without real-time data</a:t>
            </a:r>
          </a:p>
        </p:txBody>
      </p:sp>
    </p:spTree>
    <p:extLst>
      <p:ext uri="{BB962C8B-B14F-4D97-AF65-F5344CB8AC3E}">
        <p14:creationId xmlns:p14="http://schemas.microsoft.com/office/powerpoint/2010/main" val="234381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452421" y="1404851"/>
            <a:ext cx="6118895" cy="42441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055716" y="1404851"/>
            <a:ext cx="4179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AID07102 (In </a:t>
            </a:r>
            <a:r>
              <a:rPr lang="en-US" dirty="0" err="1" smtClean="0"/>
              <a:t>Tseung</a:t>
            </a:r>
            <a:r>
              <a:rPr lang="en-US" dirty="0" smtClean="0"/>
              <a:t> Kwan O) is blocked by the 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955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5" y="1593705"/>
            <a:ext cx="5934075" cy="4086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文字方塊 9"/>
          <p:cNvSpPr txBox="1"/>
          <p:nvPr/>
        </p:nvSpPr>
        <p:spPr>
          <a:xfrm>
            <a:off x="955964" y="1529542"/>
            <a:ext cx="41729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IRNs 7122-7127, 7290, 7308 originally </a:t>
            </a:r>
            <a:r>
              <a:rPr lang="en-US" dirty="0" smtClean="0">
                <a:solidFill>
                  <a:srgbClr val="FF0000"/>
                </a:solidFill>
              </a:rPr>
              <a:t>AID07102~AID07103</a:t>
            </a:r>
            <a:r>
              <a:rPr lang="en-US" dirty="0"/>
              <a:t>;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Are replaced by BT pair </a:t>
            </a:r>
            <a:r>
              <a:rPr lang="en-US" dirty="0" smtClean="0">
                <a:solidFill>
                  <a:srgbClr val="0070C0"/>
                </a:solidFill>
              </a:rPr>
              <a:t>JTS0701~JTS0702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1499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754912" y="-150110"/>
            <a:ext cx="10515600" cy="1325563"/>
          </a:xfrm>
        </p:spPr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6D59E2-72DA-B24F-9CAA-8FC9C673366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1" name="Rectangle 3"/>
          <p:cNvSpPr/>
          <p:nvPr/>
        </p:nvSpPr>
        <p:spPr>
          <a:xfrm>
            <a:off x="489013" y="1871096"/>
            <a:ext cx="1540611" cy="62216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AID Detectors</a:t>
            </a:r>
          </a:p>
        </p:txBody>
      </p:sp>
      <p:sp>
        <p:nvSpPr>
          <p:cNvPr id="42" name="Rectangle 4"/>
          <p:cNvSpPr/>
          <p:nvPr/>
        </p:nvSpPr>
        <p:spPr>
          <a:xfrm>
            <a:off x="490180" y="3271684"/>
            <a:ext cx="1539444" cy="622169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Bluetooth (BT)  Detectors</a:t>
            </a:r>
          </a:p>
        </p:txBody>
      </p:sp>
      <p:sp>
        <p:nvSpPr>
          <p:cNvPr id="43" name="Rectangle 5"/>
          <p:cNvSpPr/>
          <p:nvPr/>
        </p:nvSpPr>
        <p:spPr>
          <a:xfrm>
            <a:off x="2550053" y="2303230"/>
            <a:ext cx="1113183" cy="69891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AID Software</a:t>
            </a:r>
          </a:p>
        </p:txBody>
      </p:sp>
      <p:sp>
        <p:nvSpPr>
          <p:cNvPr id="44" name="Rectangle 6"/>
          <p:cNvSpPr/>
          <p:nvPr/>
        </p:nvSpPr>
        <p:spPr>
          <a:xfrm>
            <a:off x="2550053" y="3271332"/>
            <a:ext cx="1113183" cy="622169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BT Software</a:t>
            </a:r>
          </a:p>
        </p:txBody>
      </p:sp>
      <p:sp>
        <p:nvSpPr>
          <p:cNvPr id="45" name="Rectangle 7"/>
          <p:cNvSpPr/>
          <p:nvPr/>
        </p:nvSpPr>
        <p:spPr>
          <a:xfrm>
            <a:off x="4109161" y="2772714"/>
            <a:ext cx="1171894" cy="1692758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Ingress Engine</a:t>
            </a:r>
          </a:p>
          <a:p>
            <a:pPr algn="ctr"/>
            <a:endParaRPr lang="en-HK" sz="800" b="1">
              <a:solidFill>
                <a:srgbClr val="FF0000"/>
              </a:solidFill>
            </a:endParaRPr>
          </a:p>
          <a:p>
            <a:pPr algn="ctr"/>
            <a:r>
              <a:rPr lang="en-HK" b="1">
                <a:solidFill>
                  <a:srgbClr val="FF0000"/>
                </a:solidFill>
              </a:rPr>
              <a:t>Data Cleansing</a:t>
            </a:r>
            <a:endParaRPr lang="en-US"/>
          </a:p>
        </p:txBody>
      </p:sp>
      <p:sp>
        <p:nvSpPr>
          <p:cNvPr id="46" name="Rectangle 8"/>
          <p:cNvSpPr/>
          <p:nvPr/>
        </p:nvSpPr>
        <p:spPr>
          <a:xfrm>
            <a:off x="2331722" y="1811526"/>
            <a:ext cx="7650478" cy="30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9"/>
          <p:cNvSpPr txBox="1"/>
          <p:nvPr/>
        </p:nvSpPr>
        <p:spPr>
          <a:xfrm>
            <a:off x="4857759" y="2100994"/>
            <a:ext cx="3281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Central Computer System (CCS)</a:t>
            </a:r>
          </a:p>
        </p:txBody>
      </p:sp>
      <p:sp>
        <p:nvSpPr>
          <p:cNvPr id="48" name="Rectangle 13"/>
          <p:cNvSpPr/>
          <p:nvPr/>
        </p:nvSpPr>
        <p:spPr>
          <a:xfrm>
            <a:off x="6019143" y="2777654"/>
            <a:ext cx="1542783" cy="1692759"/>
          </a:xfrm>
          <a:prstGeom prst="rect">
            <a:avLst/>
          </a:prstGeom>
          <a:solidFill>
            <a:srgbClr val="FFFF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Data Fusion for Estimating Average Traffic Speeds on IRN </a:t>
            </a:r>
          </a:p>
        </p:txBody>
      </p:sp>
      <p:sp>
        <p:nvSpPr>
          <p:cNvPr id="49" name="Rectangle 14"/>
          <p:cNvSpPr/>
          <p:nvPr/>
        </p:nvSpPr>
        <p:spPr>
          <a:xfrm>
            <a:off x="8462658" y="2756285"/>
            <a:ext cx="821326" cy="1692759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Egress Engine</a:t>
            </a:r>
          </a:p>
        </p:txBody>
      </p:sp>
      <p:sp>
        <p:nvSpPr>
          <p:cNvPr id="50" name="Rectangle 17"/>
          <p:cNvSpPr/>
          <p:nvPr/>
        </p:nvSpPr>
        <p:spPr>
          <a:xfrm>
            <a:off x="10217870" y="3025049"/>
            <a:ext cx="1466544" cy="1188087"/>
          </a:xfrm>
          <a:prstGeom prst="rect">
            <a:avLst/>
          </a:prstGeom>
          <a:solidFill>
            <a:srgbClr val="FF00F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 Services (Data.gov.hk, TIS, TIMS)</a:t>
            </a:r>
          </a:p>
        </p:txBody>
      </p:sp>
      <p:cxnSp>
        <p:nvCxnSpPr>
          <p:cNvPr id="51" name="Elbow Connector 19"/>
          <p:cNvCxnSpPr>
            <a:stCxn id="41" idx="3"/>
            <a:endCxn id="43" idx="1"/>
          </p:cNvCxnSpPr>
          <p:nvPr/>
        </p:nvCxnSpPr>
        <p:spPr>
          <a:xfrm>
            <a:off x="2029624" y="2182181"/>
            <a:ext cx="520429" cy="470505"/>
          </a:xfrm>
          <a:prstGeom prst="bentConnector3">
            <a:avLst>
              <a:gd name="adj1" fmla="val 50000"/>
            </a:avLst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20"/>
          <p:cNvCxnSpPr/>
          <p:nvPr/>
        </p:nvCxnSpPr>
        <p:spPr>
          <a:xfrm>
            <a:off x="9283984" y="3609666"/>
            <a:ext cx="933886" cy="0"/>
          </a:xfrm>
          <a:prstGeom prst="straightConnector1">
            <a:avLst/>
          </a:prstGeom>
          <a:ln w="95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25"/>
          <p:cNvSpPr/>
          <p:nvPr/>
        </p:nvSpPr>
        <p:spPr>
          <a:xfrm>
            <a:off x="490180" y="4580014"/>
            <a:ext cx="1539444" cy="622169"/>
          </a:xfrm>
          <a:prstGeom prst="rect">
            <a:avLst/>
          </a:prstGeom>
          <a:solidFill>
            <a:srgbClr val="CC66FF"/>
          </a:solidFill>
          <a:ln>
            <a:solidFill>
              <a:srgbClr val="CC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ALPR Detectors</a:t>
            </a:r>
          </a:p>
        </p:txBody>
      </p:sp>
      <p:cxnSp>
        <p:nvCxnSpPr>
          <p:cNvPr id="54" name="Elbow Connector 26"/>
          <p:cNvCxnSpPr>
            <a:stCxn id="42" idx="3"/>
            <a:endCxn id="44" idx="1"/>
          </p:cNvCxnSpPr>
          <p:nvPr/>
        </p:nvCxnSpPr>
        <p:spPr>
          <a:xfrm flipV="1">
            <a:off x="2029624" y="3582417"/>
            <a:ext cx="520429" cy="352"/>
          </a:xfrm>
          <a:prstGeom prst="bentConnector3">
            <a:avLst>
              <a:gd name="adj1" fmla="val 50000"/>
            </a:avLst>
          </a:prstGeom>
          <a:ln w="952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27"/>
          <p:cNvSpPr/>
          <p:nvPr/>
        </p:nvSpPr>
        <p:spPr>
          <a:xfrm>
            <a:off x="2522743" y="4157259"/>
            <a:ext cx="1140493" cy="616425"/>
          </a:xfrm>
          <a:prstGeom prst="rect">
            <a:avLst/>
          </a:prstGeom>
          <a:solidFill>
            <a:srgbClr val="CC66FF"/>
          </a:solidFill>
          <a:ln>
            <a:solidFill>
              <a:srgbClr val="CC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ALPR Software</a:t>
            </a:r>
          </a:p>
        </p:txBody>
      </p:sp>
      <p:cxnSp>
        <p:nvCxnSpPr>
          <p:cNvPr id="56" name="Elbow Connector 28"/>
          <p:cNvCxnSpPr>
            <a:stCxn id="53" idx="3"/>
            <a:endCxn id="55" idx="1"/>
          </p:cNvCxnSpPr>
          <p:nvPr/>
        </p:nvCxnSpPr>
        <p:spPr>
          <a:xfrm flipV="1">
            <a:off x="1953722" y="4465472"/>
            <a:ext cx="569021" cy="425627"/>
          </a:xfrm>
          <a:prstGeom prst="bentConnector3">
            <a:avLst>
              <a:gd name="adj1" fmla="val 50000"/>
            </a:avLst>
          </a:prstGeom>
          <a:ln w="9525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21"/>
          <p:cNvCxnSpPr/>
          <p:nvPr/>
        </p:nvCxnSpPr>
        <p:spPr>
          <a:xfrm>
            <a:off x="5269788" y="3587321"/>
            <a:ext cx="738088" cy="4941"/>
          </a:xfrm>
          <a:prstGeom prst="straightConnector1">
            <a:avLst/>
          </a:prstGeom>
          <a:ln w="95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11"/>
          <p:cNvSpPr txBox="1"/>
          <p:nvPr/>
        </p:nvSpPr>
        <p:spPr>
          <a:xfrm>
            <a:off x="5131713" y="3128104"/>
            <a:ext cx="10300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400"/>
              <a:t>Validated </a:t>
            </a:r>
            <a:r>
              <a:rPr lang="en-HK" sz="1400">
                <a:solidFill>
                  <a:srgbClr val="C00000"/>
                </a:solidFill>
              </a:rPr>
              <a:t>AID</a:t>
            </a:r>
            <a:r>
              <a:rPr lang="en-HK" sz="1400"/>
              <a:t> &amp; </a:t>
            </a:r>
            <a:r>
              <a:rPr lang="en-HK" sz="1400">
                <a:solidFill>
                  <a:srgbClr val="0000FF"/>
                </a:solidFill>
              </a:rPr>
              <a:t>BT</a:t>
            </a:r>
            <a:r>
              <a:rPr lang="en-HK" sz="1400"/>
              <a:t> data</a:t>
            </a:r>
            <a:endParaRPr lang="en-US" sz="1400"/>
          </a:p>
        </p:txBody>
      </p:sp>
      <p:sp>
        <p:nvSpPr>
          <p:cNvPr id="60" name="TextBox 29"/>
          <p:cNvSpPr txBox="1"/>
          <p:nvPr/>
        </p:nvSpPr>
        <p:spPr>
          <a:xfrm>
            <a:off x="7483721" y="3160147"/>
            <a:ext cx="10300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400">
                <a:solidFill>
                  <a:srgbClr val="FF0000"/>
                </a:solidFill>
              </a:rPr>
              <a:t>Average Speeds </a:t>
            </a:r>
            <a:r>
              <a:rPr lang="en-HK" sz="1400"/>
              <a:t>on IRN Segments</a:t>
            </a:r>
            <a:endParaRPr lang="en-US" sz="1400"/>
          </a:p>
        </p:txBody>
      </p:sp>
      <p:cxnSp>
        <p:nvCxnSpPr>
          <p:cNvPr id="61" name="Straight Arrow Connector 30"/>
          <p:cNvCxnSpPr/>
          <p:nvPr/>
        </p:nvCxnSpPr>
        <p:spPr>
          <a:xfrm>
            <a:off x="7561926" y="3625812"/>
            <a:ext cx="900000" cy="0"/>
          </a:xfrm>
          <a:prstGeom prst="straightConnector1">
            <a:avLst/>
          </a:prstGeom>
          <a:ln w="95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32"/>
          <p:cNvCxnSpPr/>
          <p:nvPr/>
        </p:nvCxnSpPr>
        <p:spPr>
          <a:xfrm>
            <a:off x="3626116" y="2579941"/>
            <a:ext cx="478800" cy="576000"/>
          </a:xfrm>
          <a:prstGeom prst="bentConnector3">
            <a:avLst>
              <a:gd name="adj1" fmla="val 50000"/>
            </a:avLst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36"/>
          <p:cNvCxnSpPr>
            <a:stCxn id="45" idx="2"/>
            <a:endCxn id="49" idx="2"/>
          </p:cNvCxnSpPr>
          <p:nvPr/>
        </p:nvCxnSpPr>
        <p:spPr>
          <a:xfrm rot="5400000" flipH="1" flipV="1">
            <a:off x="6776000" y="2368151"/>
            <a:ext cx="16428" cy="4178213"/>
          </a:xfrm>
          <a:prstGeom prst="bentConnector3">
            <a:avLst>
              <a:gd name="adj1" fmla="val -1391527"/>
            </a:avLst>
          </a:prstGeom>
          <a:ln w="9525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39"/>
          <p:cNvCxnSpPr/>
          <p:nvPr/>
        </p:nvCxnSpPr>
        <p:spPr>
          <a:xfrm flipV="1">
            <a:off x="3650579" y="3564935"/>
            <a:ext cx="468000" cy="1358"/>
          </a:xfrm>
          <a:prstGeom prst="bentConnector3">
            <a:avLst>
              <a:gd name="adj1" fmla="val 50000"/>
            </a:avLst>
          </a:prstGeom>
          <a:ln w="952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40"/>
          <p:cNvSpPr txBox="1"/>
          <p:nvPr/>
        </p:nvSpPr>
        <p:spPr>
          <a:xfrm>
            <a:off x="9197232" y="3118784"/>
            <a:ext cx="10300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400"/>
              <a:t>Traffic data and </a:t>
            </a:r>
            <a:r>
              <a:rPr lang="en-HK" sz="1400">
                <a:solidFill>
                  <a:srgbClr val="FF0000"/>
                </a:solidFill>
              </a:rPr>
              <a:t>average speeds </a:t>
            </a:r>
            <a:r>
              <a:rPr lang="en-HK" sz="1400"/>
              <a:t>on IRN</a:t>
            </a:r>
            <a:endParaRPr lang="en-US" sz="1400"/>
          </a:p>
        </p:txBody>
      </p:sp>
      <p:sp>
        <p:nvSpPr>
          <p:cNvPr id="66" name="TextBox 46"/>
          <p:cNvSpPr txBox="1"/>
          <p:nvPr/>
        </p:nvSpPr>
        <p:spPr>
          <a:xfrm>
            <a:off x="3608519" y="3299534"/>
            <a:ext cx="555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400">
                <a:solidFill>
                  <a:srgbClr val="0000FF"/>
                </a:solidFill>
              </a:rPr>
              <a:t>BT data</a:t>
            </a:r>
            <a:endParaRPr lang="en-US" sz="1400">
              <a:solidFill>
                <a:srgbClr val="0000FF"/>
              </a:solidFill>
            </a:endParaRPr>
          </a:p>
        </p:txBody>
      </p:sp>
      <p:sp>
        <p:nvSpPr>
          <p:cNvPr id="67" name="TextBox 47"/>
          <p:cNvSpPr txBox="1"/>
          <p:nvPr/>
        </p:nvSpPr>
        <p:spPr>
          <a:xfrm>
            <a:off x="3614416" y="4187434"/>
            <a:ext cx="59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400">
                <a:solidFill>
                  <a:srgbClr val="CC66FF"/>
                </a:solidFill>
              </a:rPr>
              <a:t>ALPR data</a:t>
            </a:r>
            <a:endParaRPr lang="en-US" sz="1400">
              <a:solidFill>
                <a:srgbClr val="CC66FF"/>
              </a:solidFill>
            </a:endParaRPr>
          </a:p>
        </p:txBody>
      </p:sp>
      <p:sp>
        <p:nvSpPr>
          <p:cNvPr id="68" name="TextBox 48"/>
          <p:cNvSpPr txBox="1"/>
          <p:nvPr/>
        </p:nvSpPr>
        <p:spPr>
          <a:xfrm>
            <a:off x="3558313" y="2318331"/>
            <a:ext cx="1007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400">
                <a:solidFill>
                  <a:srgbClr val="C00000"/>
                </a:solidFill>
              </a:rPr>
              <a:t>AID data</a:t>
            </a:r>
            <a:endParaRPr lang="en-US" sz="1400">
              <a:solidFill>
                <a:srgbClr val="C00000"/>
              </a:solidFill>
            </a:endParaRPr>
          </a:p>
        </p:txBody>
      </p:sp>
      <p:pic>
        <p:nvPicPr>
          <p:cNvPr id="69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42" y="1148663"/>
            <a:ext cx="791916" cy="711522"/>
          </a:xfrm>
          <a:prstGeom prst="rect">
            <a:avLst/>
          </a:prstGeom>
        </p:spPr>
      </p:pic>
      <p:pic>
        <p:nvPicPr>
          <p:cNvPr id="70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0333" y="2648665"/>
            <a:ext cx="600911" cy="601348"/>
          </a:xfrm>
          <a:prstGeom prst="rect">
            <a:avLst/>
          </a:prstGeom>
        </p:spPr>
      </p:pic>
      <p:pic>
        <p:nvPicPr>
          <p:cNvPr id="7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39" y="4086197"/>
            <a:ext cx="542024" cy="456673"/>
          </a:xfrm>
          <a:prstGeom prst="rect">
            <a:avLst/>
          </a:prstGeom>
        </p:spPr>
      </p:pic>
      <p:sp>
        <p:nvSpPr>
          <p:cNvPr id="72" name="TextBox 12"/>
          <p:cNvSpPr txBox="1"/>
          <p:nvPr/>
        </p:nvSpPr>
        <p:spPr>
          <a:xfrm>
            <a:off x="1259318" y="5472845"/>
            <a:ext cx="9305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the project, </a:t>
            </a:r>
            <a:r>
              <a:rPr lang="en-US" sz="2400" dirty="0">
                <a:solidFill>
                  <a:srgbClr val="FF0000"/>
                </a:solidFill>
              </a:rPr>
              <a:t>average speeds</a:t>
            </a:r>
            <a:r>
              <a:rPr lang="en-US" sz="2400" dirty="0"/>
              <a:t> are estimated based on </a:t>
            </a:r>
            <a:r>
              <a:rPr lang="en-US" sz="2400" dirty="0">
                <a:solidFill>
                  <a:srgbClr val="C00000"/>
                </a:solidFill>
              </a:rPr>
              <a:t>AID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00FF"/>
                </a:solidFill>
              </a:rPr>
              <a:t>BT</a:t>
            </a:r>
            <a:r>
              <a:rPr lang="en-US" sz="2400" dirty="0"/>
              <a:t> data, while </a:t>
            </a:r>
            <a:r>
              <a:rPr lang="en-US" sz="2400" dirty="0">
                <a:solidFill>
                  <a:srgbClr val="CC66FF"/>
                </a:solidFill>
              </a:rPr>
              <a:t>ALPR</a:t>
            </a:r>
            <a:r>
              <a:rPr lang="en-US" sz="2400" dirty="0"/>
              <a:t> data are used for vehicle classification.</a:t>
            </a:r>
          </a:p>
        </p:txBody>
      </p:sp>
      <p:pic>
        <p:nvPicPr>
          <p:cNvPr id="73" name="Picture 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464" y="424495"/>
            <a:ext cx="1562462" cy="1070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335" y="398334"/>
            <a:ext cx="1893535" cy="1139618"/>
          </a:xfrm>
          <a:prstGeom prst="rect">
            <a:avLst/>
          </a:prstGeom>
        </p:spPr>
      </p:pic>
      <p:pic>
        <p:nvPicPr>
          <p:cNvPr id="75" name="Pictur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42" y="399355"/>
            <a:ext cx="1735134" cy="1110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6" name="Elbow Connector 43"/>
          <p:cNvCxnSpPr/>
          <p:nvPr/>
        </p:nvCxnSpPr>
        <p:spPr>
          <a:xfrm flipV="1">
            <a:off x="3669386" y="4182178"/>
            <a:ext cx="435530" cy="275795"/>
          </a:xfrm>
          <a:prstGeom prst="bentConnector3">
            <a:avLst>
              <a:gd name="adj1" fmla="val 50000"/>
            </a:avLst>
          </a:prstGeom>
          <a:ln w="9525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81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8" grpId="0" animBg="1"/>
      <p:bldP spid="49" grpId="0" animBg="1"/>
      <p:bldP spid="50" grpId="0" animBg="1"/>
      <p:bldP spid="59" grpId="0"/>
      <p:bldP spid="60" grpId="0"/>
      <p:bldP spid="6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AE8AF-175D-C546-B32A-B3C822B3B838}" type="slidenum">
              <a:rPr lang="en-US" smtClean="0"/>
              <a:t>41</a:t>
            </a:fld>
            <a:endParaRPr lang="en-US"/>
          </a:p>
        </p:txBody>
      </p:sp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HK" b="1" dirty="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zh-HK" altLang="en-US" b="1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89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封面頁Front p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內頁 Content p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分隔頁Divider p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封底頁Ending p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1502</Words>
  <Application>Microsoft Office PowerPoint</Application>
  <PresentationFormat>寬螢幕</PresentationFormat>
  <Paragraphs>286</Paragraphs>
  <Slides>41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41</vt:i4>
      </vt:variant>
    </vt:vector>
  </HeadingPairs>
  <TitlesOfParts>
    <vt:vector size="56" baseType="lpstr">
      <vt:lpstr>AECOM Sans</vt:lpstr>
      <vt:lpstr>Aller</vt:lpstr>
      <vt:lpstr>微軟正黑體</vt:lpstr>
      <vt:lpstr>新細明體</vt:lpstr>
      <vt:lpstr>新細明體</vt:lpstr>
      <vt:lpstr>Arial</vt:lpstr>
      <vt:lpstr>Calibri</vt:lpstr>
      <vt:lpstr>Cambria Math</vt:lpstr>
      <vt:lpstr>Symbol</vt:lpstr>
      <vt:lpstr>Times New Roman</vt:lpstr>
      <vt:lpstr>Wingdings</vt:lpstr>
      <vt:lpstr>封面頁Front page</vt:lpstr>
      <vt:lpstr>內頁 Content page</vt:lpstr>
      <vt:lpstr>分隔頁Divider page</vt:lpstr>
      <vt:lpstr>封底頁Ending page</vt:lpstr>
      <vt:lpstr>Introduction of CCS and IRN system</vt:lpstr>
      <vt:lpstr>What is Autotoll?</vt:lpstr>
      <vt:lpstr>What Autotoll is doing?</vt:lpstr>
      <vt:lpstr>Background</vt:lpstr>
      <vt:lpstr>Background</vt:lpstr>
      <vt:lpstr>TD57/93 Data Flow Diagram</vt:lpstr>
      <vt:lpstr>TD57 – Total 454 AIDs</vt:lpstr>
      <vt:lpstr>TD57 – Total 70 BTs (171 BT pairs)</vt:lpstr>
      <vt:lpstr>TD57 – BlueARGUS (For BT only)</vt:lpstr>
      <vt:lpstr>TD57 – BlueARGUS (For BT only)</vt:lpstr>
      <vt:lpstr>TD93 – Total 367 AIDs</vt:lpstr>
      <vt:lpstr>TD93 – Total 263 BTs (638 BT pairs)</vt:lpstr>
      <vt:lpstr>TD93 – Trafficnow (DeepBlue) (For BT only)</vt:lpstr>
      <vt:lpstr>Major functions of CCS:</vt:lpstr>
      <vt:lpstr>1. Locate AID/ BT/ Toll Point</vt:lpstr>
      <vt:lpstr>2. Real time AID/BT data</vt:lpstr>
      <vt:lpstr>Toll point data</vt:lpstr>
      <vt:lpstr>3. Real time traffic speed (HKeMobility)</vt:lpstr>
      <vt:lpstr>HKeMobility – Share same data source with CCS</vt:lpstr>
      <vt:lpstr>4. Report</vt:lpstr>
      <vt:lpstr>Checking the latest or past data (speed) of IRN/BT/AID  AID:</vt:lpstr>
      <vt:lpstr>Bluetooth:</vt:lpstr>
      <vt:lpstr>Road Segment (IRN)</vt:lpstr>
      <vt:lpstr>IRN (Intelligent Road Network)</vt:lpstr>
      <vt:lpstr>IRN calculation workflow</vt:lpstr>
      <vt:lpstr>IRN with AID Data</vt:lpstr>
      <vt:lpstr>AID Data cleansing</vt:lpstr>
      <vt:lpstr>AID Data calibration (Time mean speed  space mean speed)</vt:lpstr>
      <vt:lpstr>Data Fusion For Estimating Average Speeds on IRN Segments per Bound</vt:lpstr>
      <vt:lpstr>Data Fusion For Estimating Average Speeds on IRN Segments per Bound</vt:lpstr>
      <vt:lpstr>IRN with Bluetooth Data</vt:lpstr>
      <vt:lpstr>Data Fusion for Estimating Average Speeds on IRN at 2-min Interval</vt:lpstr>
      <vt:lpstr>Fusion Ratio</vt:lpstr>
      <vt:lpstr>Example</vt:lpstr>
      <vt:lpstr>IRN Segments with AID Detector Data Only: </vt:lpstr>
      <vt:lpstr>IRN Segments with Both BT and AID Detector Data: </vt:lpstr>
      <vt:lpstr>Malfunction of BT and/or AID Detectors</vt:lpstr>
      <vt:lpstr>Scenario</vt:lpstr>
      <vt:lpstr>Solution</vt:lpstr>
      <vt:lpstr>Summary 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condy ngan ht</dc:creator>
  <cp:lastModifiedBy>Joe Wong Chung Yuen</cp:lastModifiedBy>
  <cp:revision>112</cp:revision>
  <dcterms:created xsi:type="dcterms:W3CDTF">2021-08-12T18:24:01Z</dcterms:created>
  <dcterms:modified xsi:type="dcterms:W3CDTF">2024-06-04T06:49:23Z</dcterms:modified>
</cp:coreProperties>
</file>