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73" r:id="rId1"/>
  </p:sld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5196" autoAdjust="0"/>
  </p:normalViewPr>
  <p:slideViewPr>
    <p:cSldViewPr snapToGrid="0">
      <p:cViewPr varScale="1">
        <p:scale>
          <a:sx n="85" d="100"/>
          <a:sy n="85" d="100"/>
        </p:scale>
        <p:origin x="59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522B085-EE48-45CE-B5C6-DCFD7C2CB925}" type="datetimeFigureOut">
              <a:rPr lang="en-IN" smtClean="0"/>
              <a:t>30-05-2024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F98954C-1A88-484A-A9DF-834802221CCB}"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334460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22B085-EE48-45CE-B5C6-DCFD7C2CB925}" type="datetimeFigureOut">
              <a:rPr lang="en-IN" smtClean="0"/>
              <a:t>30-05-2024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F98954C-1A88-484A-A9DF-834802221CCB}" type="slidenum">
              <a:rPr lang="en-IN" smtClean="0"/>
              <a:t>‹#›</a:t>
            </a:fld>
            <a:endParaRPr lang="en-IN"/>
          </a:p>
        </p:txBody>
      </p:sp>
    </p:spTree>
    <p:extLst>
      <p:ext uri="{BB962C8B-B14F-4D97-AF65-F5344CB8AC3E}">
        <p14:creationId xmlns:p14="http://schemas.microsoft.com/office/powerpoint/2010/main" val="28960441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522B085-EE48-45CE-B5C6-DCFD7C2CB925}" type="datetimeFigureOut">
              <a:rPr lang="en-IN" smtClean="0"/>
              <a:t>30-05-2024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F98954C-1A88-484A-A9DF-834802221CCB}"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854134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8"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522B085-EE48-45CE-B5C6-DCFD7C2CB925}" type="datetimeFigureOut">
              <a:rPr lang="en-IN" smtClean="0"/>
              <a:t>30-05-2024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F98954C-1A88-484A-A9DF-834802221CCB}" type="slidenum">
              <a:rPr lang="en-IN" smtClean="0"/>
              <a:t>‹#›</a:t>
            </a:fld>
            <a:endParaRPr lang="en-IN"/>
          </a:p>
        </p:txBody>
      </p:sp>
    </p:spTree>
    <p:extLst>
      <p:ext uri="{BB962C8B-B14F-4D97-AF65-F5344CB8AC3E}">
        <p14:creationId xmlns:p14="http://schemas.microsoft.com/office/powerpoint/2010/main" val="36852150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522B085-EE48-45CE-B5C6-DCFD7C2CB925}" type="datetimeFigureOut">
              <a:rPr lang="en-IN" smtClean="0"/>
              <a:t>30-05-2024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F98954C-1A88-484A-A9DF-834802221CCB}" type="slidenum">
              <a:rPr lang="en-IN" smtClean="0"/>
              <a:t>‹#›</a:t>
            </a:fld>
            <a:endParaRPr lang="en-IN"/>
          </a:p>
        </p:txBody>
      </p:sp>
    </p:spTree>
    <p:extLst>
      <p:ext uri="{BB962C8B-B14F-4D97-AF65-F5344CB8AC3E}">
        <p14:creationId xmlns:p14="http://schemas.microsoft.com/office/powerpoint/2010/main" val="38466451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522B085-EE48-45CE-B5C6-DCFD7C2CB925}" type="datetimeFigureOut">
              <a:rPr lang="en-IN" smtClean="0"/>
              <a:t>30-05-2024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F98954C-1A88-484A-A9DF-834802221CCB}" type="slidenum">
              <a:rPr lang="en-IN" smtClean="0"/>
              <a:t>‹#›</a:t>
            </a:fld>
            <a:endParaRPr lang="en-IN"/>
          </a:p>
        </p:txBody>
      </p:sp>
    </p:spTree>
    <p:extLst>
      <p:ext uri="{BB962C8B-B14F-4D97-AF65-F5344CB8AC3E}">
        <p14:creationId xmlns:p14="http://schemas.microsoft.com/office/powerpoint/2010/main" val="35711098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0522B085-EE48-45CE-B5C6-DCFD7C2CB925}" type="datetimeFigureOut">
              <a:rPr lang="en-IN" smtClean="0"/>
              <a:t>30-05-2024</a:t>
            </a:fld>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IN"/>
          </a:p>
        </p:txBody>
      </p:sp>
      <p:sp>
        <p:nvSpPr>
          <p:cNvPr id="9" name="Slide Number Placeholder 8"/>
          <p:cNvSpPr>
            <a:spLocks noGrp="1"/>
          </p:cNvSpPr>
          <p:nvPr>
            <p:ph type="sldNum" sz="quarter" idx="12"/>
          </p:nvPr>
        </p:nvSpPr>
        <p:spPr/>
        <p:txBody>
          <a:bodyPr/>
          <a:lstStyle/>
          <a:p>
            <a:fld id="{6F98954C-1A88-484A-A9DF-834802221CCB}" type="slidenum">
              <a:rPr lang="en-IN" smtClean="0"/>
              <a:t>‹#›</a:t>
            </a:fld>
            <a:endParaRPr lang="en-IN"/>
          </a:p>
        </p:txBody>
      </p:sp>
    </p:spTree>
    <p:extLst>
      <p:ext uri="{BB962C8B-B14F-4D97-AF65-F5344CB8AC3E}">
        <p14:creationId xmlns:p14="http://schemas.microsoft.com/office/powerpoint/2010/main" val="14730670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0522B085-EE48-45CE-B5C6-DCFD7C2CB925}" type="datetimeFigureOut">
              <a:rPr lang="en-IN" smtClean="0"/>
              <a:t>30-05-2024</a:t>
            </a:fld>
            <a:endParaRPr lang="en-IN"/>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6F98954C-1A88-484A-A9DF-834802221CCB}" type="slidenum">
              <a:rPr lang="en-IN" smtClean="0"/>
              <a:t>‹#›</a:t>
            </a:fld>
            <a:endParaRPr lang="en-IN"/>
          </a:p>
        </p:txBody>
      </p:sp>
    </p:spTree>
    <p:extLst>
      <p:ext uri="{BB962C8B-B14F-4D97-AF65-F5344CB8AC3E}">
        <p14:creationId xmlns:p14="http://schemas.microsoft.com/office/powerpoint/2010/main" val="38845855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522B085-EE48-45CE-B5C6-DCFD7C2CB925}" type="datetimeFigureOut">
              <a:rPr lang="en-IN" smtClean="0"/>
              <a:t>30-05-2024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F98954C-1A88-484A-A9DF-834802221CCB}" type="slidenum">
              <a:rPr lang="en-IN" smtClean="0"/>
              <a:t>‹#›</a:t>
            </a:fld>
            <a:endParaRPr lang="en-IN"/>
          </a:p>
        </p:txBody>
      </p:sp>
    </p:spTree>
    <p:extLst>
      <p:ext uri="{BB962C8B-B14F-4D97-AF65-F5344CB8AC3E}">
        <p14:creationId xmlns:p14="http://schemas.microsoft.com/office/powerpoint/2010/main" val="7914778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22B085-EE48-45CE-B5C6-DCFD7C2CB925}" type="datetimeFigureOut">
              <a:rPr lang="en-IN" smtClean="0"/>
              <a:t>30-05-2024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F98954C-1A88-484A-A9DF-834802221CCB}" type="slidenum">
              <a:rPr lang="en-IN" smtClean="0"/>
              <a:t>‹#›</a:t>
            </a:fld>
            <a:endParaRPr lang="en-IN"/>
          </a:p>
        </p:txBody>
      </p:sp>
    </p:spTree>
    <p:extLst>
      <p:ext uri="{BB962C8B-B14F-4D97-AF65-F5344CB8AC3E}">
        <p14:creationId xmlns:p14="http://schemas.microsoft.com/office/powerpoint/2010/main" val="361447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22B085-EE48-45CE-B5C6-DCFD7C2CB925}" type="datetimeFigureOut">
              <a:rPr lang="en-IN" smtClean="0"/>
              <a:t>30-05-2024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F98954C-1A88-484A-A9DF-834802221CCB}" type="slidenum">
              <a:rPr lang="en-IN" smtClean="0"/>
              <a:t>‹#›</a:t>
            </a:fld>
            <a:endParaRPr lang="en-IN"/>
          </a:p>
        </p:txBody>
      </p:sp>
    </p:spTree>
    <p:extLst>
      <p:ext uri="{BB962C8B-B14F-4D97-AF65-F5344CB8AC3E}">
        <p14:creationId xmlns:p14="http://schemas.microsoft.com/office/powerpoint/2010/main" val="14014294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0522B085-EE48-45CE-B5C6-DCFD7C2CB925}" type="datetimeFigureOut">
              <a:rPr lang="en-IN" smtClean="0"/>
              <a:t>30-05-2024</a:t>
            </a:fld>
            <a:endParaRPr lang="en-IN"/>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IN"/>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6F98954C-1A88-484A-A9DF-834802221CCB}" type="slidenum">
              <a:rPr lang="en-IN" smtClean="0"/>
              <a:t>‹#›</a:t>
            </a:fld>
            <a:endParaRPr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04752288"/>
      </p:ext>
    </p:extLst>
  </p:cSld>
  <p:clrMap bg1="lt1" tx1="dk1" bg2="lt2" tx2="dk2" accent1="accent1" accent2="accent2" accent3="accent3" accent4="accent4" accent5="accent5" accent6="accent6" hlink="hlink" folHlink="folHlink"/>
  <p:sldLayoutIdLst>
    <p:sldLayoutId id="2147483974" r:id="rId1"/>
    <p:sldLayoutId id="2147483975" r:id="rId2"/>
    <p:sldLayoutId id="2147483976" r:id="rId3"/>
    <p:sldLayoutId id="2147483977" r:id="rId4"/>
    <p:sldLayoutId id="2147483978" r:id="rId5"/>
    <p:sldLayoutId id="2147483979" r:id="rId6"/>
    <p:sldLayoutId id="2147483980" r:id="rId7"/>
    <p:sldLayoutId id="2147483981" r:id="rId8"/>
    <p:sldLayoutId id="2147483982" r:id="rId9"/>
    <p:sldLayoutId id="2147483983" r:id="rId10"/>
    <p:sldLayoutId id="2147483984"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203FAE-58CB-46ED-9662-F486ECB30319}"/>
              </a:ext>
            </a:extLst>
          </p:cNvPr>
          <p:cNvSpPr>
            <a:spLocks noGrp="1"/>
          </p:cNvSpPr>
          <p:nvPr>
            <p:ph type="ctrTitle"/>
          </p:nvPr>
        </p:nvSpPr>
        <p:spPr>
          <a:xfrm>
            <a:off x="1066800" y="1362635"/>
            <a:ext cx="10058400" cy="2203524"/>
          </a:xfrm>
        </p:spPr>
        <p:txBody>
          <a:bodyPr>
            <a:normAutofit/>
          </a:bodyPr>
          <a:lstStyle/>
          <a:p>
            <a:pPr algn="ctr"/>
            <a:r>
              <a:rPr lang="en-IN" sz="6600" dirty="0">
                <a:solidFill>
                  <a:schemeClr val="tx1">
                    <a:lumMod val="75000"/>
                    <a:lumOff val="25000"/>
                  </a:schemeClr>
                </a:solidFill>
              </a:rPr>
              <a:t>Anomalies</a:t>
            </a:r>
            <a:r>
              <a:rPr lang="en-IN" sz="6600" dirty="0"/>
              <a:t> in Traffic Data of Strategic/Major Roads</a:t>
            </a:r>
          </a:p>
        </p:txBody>
      </p:sp>
      <p:sp>
        <p:nvSpPr>
          <p:cNvPr id="3" name="Subtitle 2">
            <a:extLst>
              <a:ext uri="{FF2B5EF4-FFF2-40B4-BE49-F238E27FC236}">
                <a16:creationId xmlns:a16="http://schemas.microsoft.com/office/drawing/2014/main" id="{ED276D7D-07E0-4019-9AB1-DC230FF370D8}"/>
              </a:ext>
            </a:extLst>
          </p:cNvPr>
          <p:cNvSpPr>
            <a:spLocks noGrp="1"/>
          </p:cNvSpPr>
          <p:nvPr>
            <p:ph type="subTitle" idx="1"/>
          </p:nvPr>
        </p:nvSpPr>
        <p:spPr>
          <a:xfrm>
            <a:off x="1066800" y="4478194"/>
            <a:ext cx="9643416" cy="1143000"/>
          </a:xfrm>
        </p:spPr>
        <p:txBody>
          <a:bodyPr>
            <a:normAutofit fontScale="25000" lnSpcReduction="20000"/>
          </a:bodyPr>
          <a:lstStyle/>
          <a:p>
            <a:pPr lvl="1">
              <a:lnSpc>
                <a:spcPct val="110000"/>
              </a:lnSpc>
            </a:pPr>
            <a:r>
              <a:rPr lang="en-IN" sz="8000" dirty="0">
                <a:latin typeface="+mj-lt"/>
              </a:rPr>
              <a:t>Nahush Kolhe</a:t>
            </a:r>
          </a:p>
          <a:p>
            <a:pPr lvl="1">
              <a:lnSpc>
                <a:spcPct val="110000"/>
              </a:lnSpc>
            </a:pPr>
            <a:r>
              <a:rPr lang="en-IN" sz="8000" dirty="0">
                <a:latin typeface="+mj-lt"/>
              </a:rPr>
              <a:t>Supervised by Prof. Edward Chung </a:t>
            </a:r>
          </a:p>
          <a:p>
            <a:pPr lvl="1">
              <a:lnSpc>
                <a:spcPct val="110000"/>
              </a:lnSpc>
            </a:pPr>
            <a:r>
              <a:rPr lang="en-IN" sz="8000" dirty="0">
                <a:latin typeface="+mj-lt"/>
              </a:rPr>
              <a:t>The Hong Kong Polytechnic University</a:t>
            </a:r>
          </a:p>
          <a:p>
            <a:pPr lvl="1">
              <a:lnSpc>
                <a:spcPct val="110000"/>
              </a:lnSpc>
            </a:pPr>
            <a:endParaRPr lang="en-IN" sz="2000" dirty="0">
              <a:latin typeface="+mj-lt"/>
            </a:endParaRPr>
          </a:p>
        </p:txBody>
      </p:sp>
      <p:sp>
        <p:nvSpPr>
          <p:cNvPr id="4" name="TextBox 3">
            <a:extLst>
              <a:ext uri="{FF2B5EF4-FFF2-40B4-BE49-F238E27FC236}">
                <a16:creationId xmlns:a16="http://schemas.microsoft.com/office/drawing/2014/main" id="{C81D5286-D7AE-43C6-967C-7850A4ECB9F1}"/>
              </a:ext>
            </a:extLst>
          </p:cNvPr>
          <p:cNvSpPr txBox="1"/>
          <p:nvPr/>
        </p:nvSpPr>
        <p:spPr>
          <a:xfrm>
            <a:off x="5362483" y="5621194"/>
            <a:ext cx="1467033" cy="338554"/>
          </a:xfrm>
          <a:prstGeom prst="rect">
            <a:avLst/>
          </a:prstGeom>
          <a:noFill/>
        </p:spPr>
        <p:txBody>
          <a:bodyPr wrap="square" rtlCol="0">
            <a:spAutoFit/>
          </a:bodyPr>
          <a:lstStyle/>
          <a:p>
            <a:r>
              <a:rPr lang="en-IN" sz="1600" dirty="0">
                <a:solidFill>
                  <a:schemeClr val="tx1">
                    <a:lumMod val="75000"/>
                    <a:lumOff val="25000"/>
                  </a:schemeClr>
                </a:solidFill>
                <a:latin typeface="+mj-lt"/>
              </a:rPr>
              <a:t>30</a:t>
            </a:r>
            <a:r>
              <a:rPr lang="en-IN" sz="1600" baseline="30000" dirty="0">
                <a:solidFill>
                  <a:schemeClr val="tx1">
                    <a:lumMod val="75000"/>
                    <a:lumOff val="25000"/>
                  </a:schemeClr>
                </a:solidFill>
                <a:latin typeface="+mj-lt"/>
              </a:rPr>
              <a:t>th</a:t>
            </a:r>
            <a:r>
              <a:rPr lang="en-IN" sz="1600" dirty="0">
                <a:solidFill>
                  <a:schemeClr val="tx1">
                    <a:lumMod val="75000"/>
                    <a:lumOff val="25000"/>
                  </a:schemeClr>
                </a:solidFill>
                <a:latin typeface="+mj-lt"/>
              </a:rPr>
              <a:t> May 2024</a:t>
            </a:r>
          </a:p>
        </p:txBody>
      </p:sp>
    </p:spTree>
    <p:extLst>
      <p:ext uri="{BB962C8B-B14F-4D97-AF65-F5344CB8AC3E}">
        <p14:creationId xmlns:p14="http://schemas.microsoft.com/office/powerpoint/2010/main" val="41571000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F82748-8553-4034-AD7F-48162D672EAF}"/>
              </a:ext>
            </a:extLst>
          </p:cNvPr>
          <p:cNvSpPr>
            <a:spLocks noGrp="1"/>
          </p:cNvSpPr>
          <p:nvPr>
            <p:ph type="title"/>
          </p:nvPr>
        </p:nvSpPr>
        <p:spPr/>
        <p:txBody>
          <a:bodyPr/>
          <a:lstStyle/>
          <a:p>
            <a:r>
              <a:rPr lang="en-IN" dirty="0"/>
              <a:t>Introduction</a:t>
            </a:r>
          </a:p>
        </p:txBody>
      </p:sp>
      <p:sp>
        <p:nvSpPr>
          <p:cNvPr id="3" name="Content Placeholder 2">
            <a:extLst>
              <a:ext uri="{FF2B5EF4-FFF2-40B4-BE49-F238E27FC236}">
                <a16:creationId xmlns:a16="http://schemas.microsoft.com/office/drawing/2014/main" id="{4DC4611D-97CB-4086-B206-0ECAE7FB6853}"/>
              </a:ext>
            </a:extLst>
          </p:cNvPr>
          <p:cNvSpPr>
            <a:spLocks noGrp="1"/>
          </p:cNvSpPr>
          <p:nvPr>
            <p:ph idx="1"/>
          </p:nvPr>
        </p:nvSpPr>
        <p:spPr/>
        <p:txBody>
          <a:bodyPr>
            <a:normAutofit/>
          </a:bodyPr>
          <a:lstStyle/>
          <a:p>
            <a:pPr>
              <a:buFont typeface="Wingdings" panose="05000000000000000000" pitchFamily="2" charset="2"/>
              <a:buChar char="q"/>
            </a:pPr>
            <a:r>
              <a:rPr lang="en-IN" dirty="0"/>
              <a:t> Using the flow, speed and occupation data of detectors on strategic/major roads, we have tried to find anomalies in the data. </a:t>
            </a:r>
          </a:p>
          <a:p>
            <a:pPr>
              <a:buFont typeface="Wingdings" panose="05000000000000000000" pitchFamily="2" charset="2"/>
              <a:buChar char="q"/>
            </a:pPr>
            <a:r>
              <a:rPr lang="en-IN" dirty="0"/>
              <a:t> We also have used the location of detectors to analyse the correlation between nearby detectors on the same road and in same direction.</a:t>
            </a:r>
          </a:p>
          <a:p>
            <a:pPr>
              <a:spcAft>
                <a:spcPts val="1200"/>
              </a:spcAft>
              <a:buFont typeface="Wingdings" panose="05000000000000000000" pitchFamily="2" charset="2"/>
              <a:buChar char="q"/>
            </a:pPr>
            <a:r>
              <a:rPr lang="en-IN" dirty="0"/>
              <a:t> We found 3 kinds of Anomalies:</a:t>
            </a:r>
          </a:p>
          <a:p>
            <a:pPr marL="635508" lvl="1" indent="-342900">
              <a:buFont typeface="+mj-lt"/>
              <a:buAutoNum type="arabicPeriod"/>
            </a:pPr>
            <a:r>
              <a:rPr lang="en-IN" b="1" dirty="0"/>
              <a:t>Trees Blocking the view </a:t>
            </a:r>
            <a:r>
              <a:rPr lang="en-IN" dirty="0"/>
              <a:t>: Due to trees blocking the detector view, it records trash values leading to bad correlation with nearby detectors.</a:t>
            </a:r>
          </a:p>
          <a:p>
            <a:pPr marL="635508" lvl="1" indent="-342900">
              <a:buFont typeface="+mj-lt"/>
              <a:buAutoNum type="arabicPeriod"/>
            </a:pPr>
            <a:r>
              <a:rPr lang="en-IN" b="1" dirty="0"/>
              <a:t>Diverging roads’ flow anomaly</a:t>
            </a:r>
            <a:r>
              <a:rPr lang="en-IN" dirty="0"/>
              <a:t> : The upstream road diverges into two downstream roads. We expect the total flow of upstream road to be greater than one of the downstream road, but during an anomaly we find it to be lesser.</a:t>
            </a:r>
          </a:p>
          <a:p>
            <a:pPr marL="635508" lvl="1" indent="-342900">
              <a:buFont typeface="+mj-lt"/>
              <a:buAutoNum type="arabicPeriod"/>
            </a:pPr>
            <a:r>
              <a:rPr lang="en-IN" b="1" dirty="0"/>
              <a:t>Abnormal values for certain time period</a:t>
            </a:r>
            <a:r>
              <a:rPr lang="en-IN" dirty="0"/>
              <a:t> : We see abnormally high/low values for a certain period of time. Also we found anomaly during the same time for far away detectors.</a:t>
            </a:r>
          </a:p>
        </p:txBody>
      </p:sp>
    </p:spTree>
    <p:extLst>
      <p:ext uri="{BB962C8B-B14F-4D97-AF65-F5344CB8AC3E}">
        <p14:creationId xmlns:p14="http://schemas.microsoft.com/office/powerpoint/2010/main" val="11238004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4DE31E-709B-47A6-B5C2-22D71D0CFD03}"/>
              </a:ext>
            </a:extLst>
          </p:cNvPr>
          <p:cNvSpPr>
            <a:spLocks noGrp="1"/>
          </p:cNvSpPr>
          <p:nvPr>
            <p:ph type="title"/>
          </p:nvPr>
        </p:nvSpPr>
        <p:spPr/>
        <p:txBody>
          <a:bodyPr/>
          <a:lstStyle/>
          <a:p>
            <a:r>
              <a:rPr lang="en-IN" dirty="0"/>
              <a:t>1) Trees Blocking the view</a:t>
            </a:r>
          </a:p>
        </p:txBody>
      </p:sp>
      <p:pic>
        <p:nvPicPr>
          <p:cNvPr id="5" name="Content Placeholder 4">
            <a:extLst>
              <a:ext uri="{FF2B5EF4-FFF2-40B4-BE49-F238E27FC236}">
                <a16:creationId xmlns:a16="http://schemas.microsoft.com/office/drawing/2014/main" id="{94FB2615-6ADA-4A0C-B9EF-269CFC880DF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36321" y="2070846"/>
            <a:ext cx="3048000" cy="2286000"/>
          </a:xfrm>
        </p:spPr>
      </p:pic>
      <p:pic>
        <p:nvPicPr>
          <p:cNvPr id="7" name="Picture 6">
            <a:extLst>
              <a:ext uri="{FF2B5EF4-FFF2-40B4-BE49-F238E27FC236}">
                <a16:creationId xmlns:a16="http://schemas.microsoft.com/office/drawing/2014/main" id="{CD17AE6B-2C11-4248-961F-45C807AA65D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53058" y="2070846"/>
            <a:ext cx="3048000" cy="2286000"/>
          </a:xfrm>
          <a:prstGeom prst="rect">
            <a:avLst/>
          </a:prstGeom>
        </p:spPr>
      </p:pic>
      <p:pic>
        <p:nvPicPr>
          <p:cNvPr id="9" name="Picture 8">
            <a:extLst>
              <a:ext uri="{FF2B5EF4-FFF2-40B4-BE49-F238E27FC236}">
                <a16:creationId xmlns:a16="http://schemas.microsoft.com/office/drawing/2014/main" id="{6BE181E9-75F4-4FC7-8316-191AA49BC1F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009068" y="2070846"/>
            <a:ext cx="3048000" cy="2286000"/>
          </a:xfrm>
          <a:prstGeom prst="rect">
            <a:avLst/>
          </a:prstGeom>
        </p:spPr>
      </p:pic>
      <p:sp>
        <p:nvSpPr>
          <p:cNvPr id="10" name="TextBox 9">
            <a:extLst>
              <a:ext uri="{FF2B5EF4-FFF2-40B4-BE49-F238E27FC236}">
                <a16:creationId xmlns:a16="http://schemas.microsoft.com/office/drawing/2014/main" id="{C7F20455-8F53-4989-9A8A-011CDD6131B7}"/>
              </a:ext>
            </a:extLst>
          </p:cNvPr>
          <p:cNvSpPr txBox="1"/>
          <p:nvPr/>
        </p:nvSpPr>
        <p:spPr>
          <a:xfrm>
            <a:off x="1914862" y="4424984"/>
            <a:ext cx="1290918" cy="400110"/>
          </a:xfrm>
          <a:prstGeom prst="rect">
            <a:avLst/>
          </a:prstGeom>
          <a:noFill/>
        </p:spPr>
        <p:txBody>
          <a:bodyPr wrap="square" rtlCol="0">
            <a:spAutoFit/>
          </a:bodyPr>
          <a:lstStyle/>
          <a:p>
            <a:pPr algn="ctr"/>
            <a:r>
              <a:rPr lang="en-IN" sz="2000" dirty="0">
                <a:solidFill>
                  <a:schemeClr val="tx1">
                    <a:lumMod val="75000"/>
                    <a:lumOff val="25000"/>
                  </a:schemeClr>
                </a:solidFill>
              </a:rPr>
              <a:t>AID04201</a:t>
            </a:r>
          </a:p>
        </p:txBody>
      </p:sp>
      <p:sp>
        <p:nvSpPr>
          <p:cNvPr id="13" name="TextBox 12">
            <a:extLst>
              <a:ext uri="{FF2B5EF4-FFF2-40B4-BE49-F238E27FC236}">
                <a16:creationId xmlns:a16="http://schemas.microsoft.com/office/drawing/2014/main" id="{EF2E23E1-7F2F-471D-8A50-7498FB869CE3}"/>
              </a:ext>
            </a:extLst>
          </p:cNvPr>
          <p:cNvSpPr txBox="1"/>
          <p:nvPr/>
        </p:nvSpPr>
        <p:spPr>
          <a:xfrm>
            <a:off x="5331599" y="4424984"/>
            <a:ext cx="1290918" cy="400110"/>
          </a:xfrm>
          <a:prstGeom prst="rect">
            <a:avLst/>
          </a:prstGeom>
          <a:noFill/>
        </p:spPr>
        <p:txBody>
          <a:bodyPr wrap="square" rtlCol="0">
            <a:spAutoFit/>
          </a:bodyPr>
          <a:lstStyle/>
          <a:p>
            <a:pPr algn="ctr"/>
            <a:r>
              <a:rPr lang="en-IN" sz="2000" dirty="0">
                <a:solidFill>
                  <a:schemeClr val="tx1">
                    <a:lumMod val="75000"/>
                    <a:lumOff val="25000"/>
                  </a:schemeClr>
                </a:solidFill>
              </a:rPr>
              <a:t>AID07102</a:t>
            </a:r>
          </a:p>
        </p:txBody>
      </p:sp>
      <p:sp>
        <p:nvSpPr>
          <p:cNvPr id="14" name="TextBox 13">
            <a:extLst>
              <a:ext uri="{FF2B5EF4-FFF2-40B4-BE49-F238E27FC236}">
                <a16:creationId xmlns:a16="http://schemas.microsoft.com/office/drawing/2014/main" id="{33CF92D4-F964-4DF2-A59D-631D464D3840}"/>
              </a:ext>
            </a:extLst>
          </p:cNvPr>
          <p:cNvSpPr txBox="1"/>
          <p:nvPr/>
        </p:nvSpPr>
        <p:spPr>
          <a:xfrm>
            <a:off x="8887609" y="4424984"/>
            <a:ext cx="1290918" cy="400110"/>
          </a:xfrm>
          <a:prstGeom prst="rect">
            <a:avLst/>
          </a:prstGeom>
          <a:noFill/>
        </p:spPr>
        <p:txBody>
          <a:bodyPr wrap="square" rtlCol="0">
            <a:spAutoFit/>
          </a:bodyPr>
          <a:lstStyle/>
          <a:p>
            <a:pPr algn="ctr"/>
            <a:r>
              <a:rPr lang="en-IN" sz="2000" dirty="0">
                <a:solidFill>
                  <a:schemeClr val="tx1">
                    <a:lumMod val="75000"/>
                    <a:lumOff val="25000"/>
                  </a:schemeClr>
                </a:solidFill>
              </a:rPr>
              <a:t>AID08203</a:t>
            </a:r>
          </a:p>
        </p:txBody>
      </p:sp>
      <p:sp>
        <p:nvSpPr>
          <p:cNvPr id="15" name="TextBox 14">
            <a:extLst>
              <a:ext uri="{FF2B5EF4-FFF2-40B4-BE49-F238E27FC236}">
                <a16:creationId xmlns:a16="http://schemas.microsoft.com/office/drawing/2014/main" id="{5F15ADA2-4C12-4AE7-8BD7-F06ECD94C5D8}"/>
              </a:ext>
            </a:extLst>
          </p:cNvPr>
          <p:cNvSpPr txBox="1"/>
          <p:nvPr/>
        </p:nvSpPr>
        <p:spPr>
          <a:xfrm>
            <a:off x="882128" y="5208494"/>
            <a:ext cx="9812767" cy="400110"/>
          </a:xfrm>
          <a:prstGeom prst="rect">
            <a:avLst/>
          </a:prstGeom>
          <a:noFill/>
        </p:spPr>
        <p:txBody>
          <a:bodyPr wrap="square" rtlCol="0">
            <a:spAutoFit/>
          </a:bodyPr>
          <a:lstStyle/>
          <a:p>
            <a:pPr marL="342900" indent="-342900">
              <a:buFont typeface="Arial" panose="020B0604020202020204" pitchFamily="34" charset="0"/>
              <a:buChar char="•"/>
            </a:pPr>
            <a:r>
              <a:rPr lang="en-IN" sz="2000" dirty="0">
                <a:solidFill>
                  <a:schemeClr val="tx1">
                    <a:lumMod val="75000"/>
                    <a:lumOff val="25000"/>
                  </a:schemeClr>
                </a:solidFill>
              </a:rPr>
              <a:t>These detectors are recording trash values due to obstructed view.</a:t>
            </a:r>
          </a:p>
        </p:txBody>
      </p:sp>
    </p:spTree>
    <p:extLst>
      <p:ext uri="{BB962C8B-B14F-4D97-AF65-F5344CB8AC3E}">
        <p14:creationId xmlns:p14="http://schemas.microsoft.com/office/powerpoint/2010/main" val="6011671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6CAA57-67E1-4AA2-A80B-D6EC2BDFA122}"/>
              </a:ext>
            </a:extLst>
          </p:cNvPr>
          <p:cNvSpPr>
            <a:spLocks noGrp="1"/>
          </p:cNvSpPr>
          <p:nvPr>
            <p:ph type="title"/>
          </p:nvPr>
        </p:nvSpPr>
        <p:spPr/>
        <p:txBody>
          <a:bodyPr/>
          <a:lstStyle/>
          <a:p>
            <a:r>
              <a:rPr lang="en-IN" dirty="0"/>
              <a:t>2) Diverging roads’ flow anomaly</a:t>
            </a:r>
          </a:p>
        </p:txBody>
      </p:sp>
      <p:pic>
        <p:nvPicPr>
          <p:cNvPr id="15" name="Content Placeholder 14">
            <a:extLst>
              <a:ext uri="{FF2B5EF4-FFF2-40B4-BE49-F238E27FC236}">
                <a16:creationId xmlns:a16="http://schemas.microsoft.com/office/drawing/2014/main" id="{B9B3F88A-861F-4845-8B67-B51B4A61F183}"/>
              </a:ext>
            </a:extLst>
          </p:cNvPr>
          <p:cNvPicPr>
            <a:picLocks noGrp="1" noChangeAspect="1"/>
          </p:cNvPicPr>
          <p:nvPr>
            <p:ph idx="1"/>
          </p:nvPr>
        </p:nvPicPr>
        <p:blipFill>
          <a:blip r:embed="rId2"/>
          <a:stretch>
            <a:fillRect/>
          </a:stretch>
        </p:blipFill>
        <p:spPr>
          <a:xfrm>
            <a:off x="6438454" y="1872017"/>
            <a:ext cx="5250049" cy="1980355"/>
          </a:xfrm>
        </p:spPr>
      </p:pic>
      <p:pic>
        <p:nvPicPr>
          <p:cNvPr id="17" name="Picture 16">
            <a:extLst>
              <a:ext uri="{FF2B5EF4-FFF2-40B4-BE49-F238E27FC236}">
                <a16:creationId xmlns:a16="http://schemas.microsoft.com/office/drawing/2014/main" id="{A9EC109A-766D-4407-849C-807DC1C1440C}"/>
              </a:ext>
            </a:extLst>
          </p:cNvPr>
          <p:cNvPicPr>
            <a:picLocks noChangeAspect="1"/>
          </p:cNvPicPr>
          <p:nvPr/>
        </p:nvPicPr>
        <p:blipFill>
          <a:blip r:embed="rId3"/>
          <a:stretch>
            <a:fillRect/>
          </a:stretch>
        </p:blipFill>
        <p:spPr>
          <a:xfrm>
            <a:off x="6438452" y="3987029"/>
            <a:ext cx="5250051" cy="1980356"/>
          </a:xfrm>
          <a:prstGeom prst="rect">
            <a:avLst/>
          </a:prstGeom>
        </p:spPr>
      </p:pic>
      <p:sp>
        <p:nvSpPr>
          <p:cNvPr id="21" name="TextBox 20">
            <a:extLst>
              <a:ext uri="{FF2B5EF4-FFF2-40B4-BE49-F238E27FC236}">
                <a16:creationId xmlns:a16="http://schemas.microsoft.com/office/drawing/2014/main" id="{26984516-4B2D-4101-B9C6-F8D9629C04C1}"/>
              </a:ext>
            </a:extLst>
          </p:cNvPr>
          <p:cNvSpPr txBox="1"/>
          <p:nvPr/>
        </p:nvSpPr>
        <p:spPr>
          <a:xfrm>
            <a:off x="503497" y="3308162"/>
            <a:ext cx="5700080" cy="2616101"/>
          </a:xfrm>
          <a:prstGeom prst="rect">
            <a:avLst/>
          </a:prstGeom>
          <a:noFill/>
        </p:spPr>
        <p:txBody>
          <a:bodyPr wrap="square" rtlCol="0">
            <a:spAutoFit/>
          </a:bodyPr>
          <a:lstStyle/>
          <a:p>
            <a:pPr>
              <a:spcAft>
                <a:spcPts val="600"/>
              </a:spcAft>
            </a:pPr>
            <a:r>
              <a:rPr lang="en-IN" sz="1600" b="1" dirty="0">
                <a:solidFill>
                  <a:schemeClr val="tx1">
                    <a:lumMod val="75000"/>
                    <a:lumOff val="25000"/>
                  </a:schemeClr>
                </a:solidFill>
              </a:rPr>
              <a:t>AID05110 (westbound, 2 lanes) </a:t>
            </a:r>
            <a:r>
              <a:rPr lang="en-IN" sz="1600" dirty="0">
                <a:solidFill>
                  <a:schemeClr val="tx1">
                    <a:lumMod val="75000"/>
                    <a:lumOff val="25000"/>
                  </a:schemeClr>
                </a:solidFill>
              </a:rPr>
              <a:t>: Upstream detector of blue road.</a:t>
            </a:r>
            <a:br>
              <a:rPr lang="en-IN" sz="1600" dirty="0">
                <a:solidFill>
                  <a:schemeClr val="tx1">
                    <a:lumMod val="75000"/>
                    <a:lumOff val="25000"/>
                  </a:schemeClr>
                </a:solidFill>
              </a:rPr>
            </a:br>
            <a:r>
              <a:rPr lang="en-IN" sz="1600" b="1" dirty="0">
                <a:solidFill>
                  <a:schemeClr val="tx1">
                    <a:lumMod val="75000"/>
                    <a:lumOff val="25000"/>
                  </a:schemeClr>
                </a:solidFill>
              </a:rPr>
              <a:t>AID05111 (westbound, 1 lane) </a:t>
            </a:r>
            <a:r>
              <a:rPr lang="en-IN" sz="1600" dirty="0">
                <a:solidFill>
                  <a:schemeClr val="tx1">
                    <a:lumMod val="75000"/>
                    <a:lumOff val="25000"/>
                  </a:schemeClr>
                </a:solidFill>
              </a:rPr>
              <a:t>: Downstream detector of yellow road.</a:t>
            </a:r>
          </a:p>
          <a:p>
            <a:pPr>
              <a:spcAft>
                <a:spcPts val="1200"/>
              </a:spcAft>
            </a:pPr>
            <a:r>
              <a:rPr lang="en-IN" sz="1600" dirty="0">
                <a:solidFill>
                  <a:schemeClr val="tx1">
                    <a:lumMod val="75000"/>
                    <a:lumOff val="25000"/>
                  </a:schemeClr>
                </a:solidFill>
              </a:rPr>
              <a:t>The blue road diverges into yellow and red road. We expect the total flow of blue to be greater than yellow at all times, but in</a:t>
            </a:r>
          </a:p>
          <a:p>
            <a:pPr marL="285750" indent="-285750">
              <a:buFont typeface="Arial" panose="020B0604020202020204" pitchFamily="34" charset="0"/>
              <a:buChar char="•"/>
            </a:pPr>
            <a:r>
              <a:rPr lang="en-IN" sz="1600" dirty="0">
                <a:solidFill>
                  <a:schemeClr val="tx1">
                    <a:lumMod val="75000"/>
                    <a:lumOff val="25000"/>
                  </a:schemeClr>
                </a:solidFill>
              </a:rPr>
              <a:t>1</a:t>
            </a:r>
            <a:r>
              <a:rPr lang="en-IN" sz="1600" baseline="30000" dirty="0">
                <a:solidFill>
                  <a:schemeClr val="tx1">
                    <a:lumMod val="75000"/>
                    <a:lumOff val="25000"/>
                  </a:schemeClr>
                </a:solidFill>
              </a:rPr>
              <a:t>st</a:t>
            </a:r>
            <a:r>
              <a:rPr lang="en-IN" sz="1600" dirty="0">
                <a:solidFill>
                  <a:schemeClr val="tx1">
                    <a:lumMod val="75000"/>
                    <a:lumOff val="25000"/>
                  </a:schemeClr>
                </a:solidFill>
              </a:rPr>
              <a:t> image we can see for certain periodic period of time the yellow flow exceeding the blue one.</a:t>
            </a:r>
          </a:p>
          <a:p>
            <a:pPr marL="285750" indent="-285750">
              <a:spcBef>
                <a:spcPts val="600"/>
              </a:spcBef>
              <a:buFont typeface="Arial" panose="020B0604020202020204" pitchFamily="34" charset="0"/>
              <a:buChar char="•"/>
            </a:pPr>
            <a:r>
              <a:rPr lang="en-IN" sz="1600" dirty="0">
                <a:solidFill>
                  <a:schemeClr val="tx1">
                    <a:lumMod val="75000"/>
                    <a:lumOff val="25000"/>
                  </a:schemeClr>
                </a:solidFill>
              </a:rPr>
              <a:t>Further in 2</a:t>
            </a:r>
            <a:r>
              <a:rPr lang="en-IN" sz="1600" baseline="30000" dirty="0">
                <a:solidFill>
                  <a:schemeClr val="tx1">
                    <a:lumMod val="75000"/>
                    <a:lumOff val="25000"/>
                  </a:schemeClr>
                </a:solidFill>
              </a:rPr>
              <a:t>nd</a:t>
            </a:r>
            <a:r>
              <a:rPr lang="en-IN" sz="1600" dirty="0">
                <a:solidFill>
                  <a:schemeClr val="tx1">
                    <a:lumMod val="75000"/>
                    <a:lumOff val="25000"/>
                  </a:schemeClr>
                </a:solidFill>
              </a:rPr>
              <a:t> image for a specific time period the yellow flow is exceeding the blue for about 3 days. ( Anomaly in blue data. )</a:t>
            </a:r>
          </a:p>
        </p:txBody>
      </p:sp>
      <p:pic>
        <p:nvPicPr>
          <p:cNvPr id="23" name="Picture 22">
            <a:extLst>
              <a:ext uri="{FF2B5EF4-FFF2-40B4-BE49-F238E27FC236}">
                <a16:creationId xmlns:a16="http://schemas.microsoft.com/office/drawing/2014/main" id="{4049C889-77DC-4191-8997-21F6C3F02AA2}"/>
              </a:ext>
            </a:extLst>
          </p:cNvPr>
          <p:cNvPicPr>
            <a:picLocks noChangeAspect="1"/>
          </p:cNvPicPr>
          <p:nvPr/>
        </p:nvPicPr>
        <p:blipFill rotWithShape="1">
          <a:blip r:embed="rId4"/>
          <a:srcRect l="3939" t="35011" r="3624" b="33977"/>
          <a:stretch/>
        </p:blipFill>
        <p:spPr>
          <a:xfrm>
            <a:off x="556608" y="2029516"/>
            <a:ext cx="5539392" cy="1143989"/>
          </a:xfrm>
          <a:prstGeom prst="rect">
            <a:avLst/>
          </a:prstGeom>
        </p:spPr>
      </p:pic>
      <p:sp>
        <p:nvSpPr>
          <p:cNvPr id="24" name="TextBox 23">
            <a:extLst>
              <a:ext uri="{FF2B5EF4-FFF2-40B4-BE49-F238E27FC236}">
                <a16:creationId xmlns:a16="http://schemas.microsoft.com/office/drawing/2014/main" id="{60B302AC-8F5C-4802-8C51-C1E73306160F}"/>
              </a:ext>
            </a:extLst>
          </p:cNvPr>
          <p:cNvSpPr txBox="1"/>
          <p:nvPr/>
        </p:nvSpPr>
        <p:spPr>
          <a:xfrm>
            <a:off x="6203577" y="1968763"/>
            <a:ext cx="618565" cy="369332"/>
          </a:xfrm>
          <a:prstGeom prst="rect">
            <a:avLst/>
          </a:prstGeom>
          <a:noFill/>
        </p:spPr>
        <p:txBody>
          <a:bodyPr wrap="square" rtlCol="0">
            <a:spAutoFit/>
          </a:bodyPr>
          <a:lstStyle/>
          <a:p>
            <a:r>
              <a:rPr lang="en-IN" dirty="0">
                <a:solidFill>
                  <a:schemeClr val="tx1">
                    <a:lumMod val="75000"/>
                    <a:lumOff val="25000"/>
                  </a:schemeClr>
                </a:solidFill>
              </a:rPr>
              <a:t>1)</a:t>
            </a:r>
          </a:p>
        </p:txBody>
      </p:sp>
      <p:sp>
        <p:nvSpPr>
          <p:cNvPr id="25" name="TextBox 24">
            <a:extLst>
              <a:ext uri="{FF2B5EF4-FFF2-40B4-BE49-F238E27FC236}">
                <a16:creationId xmlns:a16="http://schemas.microsoft.com/office/drawing/2014/main" id="{B69EADCB-B4BC-4E37-BB38-DA231ED81542}"/>
              </a:ext>
            </a:extLst>
          </p:cNvPr>
          <p:cNvSpPr txBox="1"/>
          <p:nvPr/>
        </p:nvSpPr>
        <p:spPr>
          <a:xfrm>
            <a:off x="6203576" y="4083775"/>
            <a:ext cx="618565" cy="369332"/>
          </a:xfrm>
          <a:prstGeom prst="rect">
            <a:avLst/>
          </a:prstGeom>
          <a:noFill/>
        </p:spPr>
        <p:txBody>
          <a:bodyPr wrap="square" rtlCol="0">
            <a:spAutoFit/>
          </a:bodyPr>
          <a:lstStyle/>
          <a:p>
            <a:r>
              <a:rPr lang="en-IN" dirty="0">
                <a:solidFill>
                  <a:schemeClr val="tx1">
                    <a:lumMod val="75000"/>
                    <a:lumOff val="25000"/>
                  </a:schemeClr>
                </a:solidFill>
              </a:rPr>
              <a:t>2)</a:t>
            </a:r>
          </a:p>
        </p:txBody>
      </p:sp>
      <p:cxnSp>
        <p:nvCxnSpPr>
          <p:cNvPr id="27" name="Straight Arrow Connector 26">
            <a:extLst>
              <a:ext uri="{FF2B5EF4-FFF2-40B4-BE49-F238E27FC236}">
                <a16:creationId xmlns:a16="http://schemas.microsoft.com/office/drawing/2014/main" id="{6D2FFF9B-D1B1-41B5-8B8E-7A94BF98E606}"/>
              </a:ext>
            </a:extLst>
          </p:cNvPr>
          <p:cNvCxnSpPr>
            <a:cxnSpLocks/>
          </p:cNvCxnSpPr>
          <p:nvPr/>
        </p:nvCxnSpPr>
        <p:spPr>
          <a:xfrm flipH="1">
            <a:off x="10336306" y="1872017"/>
            <a:ext cx="819376" cy="566383"/>
          </a:xfrm>
          <a:prstGeom prst="straightConnector1">
            <a:avLst/>
          </a:prstGeom>
          <a:ln>
            <a:tailEnd type="triangle"/>
          </a:ln>
        </p:spPr>
        <p:style>
          <a:lnRef idx="1">
            <a:schemeClr val="accent4"/>
          </a:lnRef>
          <a:fillRef idx="0">
            <a:schemeClr val="accent4"/>
          </a:fillRef>
          <a:effectRef idx="0">
            <a:schemeClr val="accent4"/>
          </a:effectRef>
          <a:fontRef idx="minor">
            <a:schemeClr val="tx1"/>
          </a:fontRef>
        </p:style>
      </p:cxnSp>
      <p:cxnSp>
        <p:nvCxnSpPr>
          <p:cNvPr id="28" name="Straight Arrow Connector 27">
            <a:extLst>
              <a:ext uri="{FF2B5EF4-FFF2-40B4-BE49-F238E27FC236}">
                <a16:creationId xmlns:a16="http://schemas.microsoft.com/office/drawing/2014/main" id="{C98227CC-188B-401F-87CC-63B17A87BE0A}"/>
              </a:ext>
            </a:extLst>
          </p:cNvPr>
          <p:cNvCxnSpPr>
            <a:cxnSpLocks/>
          </p:cNvCxnSpPr>
          <p:nvPr/>
        </p:nvCxnSpPr>
        <p:spPr>
          <a:xfrm flipH="1">
            <a:off x="9807388" y="1872017"/>
            <a:ext cx="1348292" cy="566383"/>
          </a:xfrm>
          <a:prstGeom prst="straightConnector1">
            <a:avLst/>
          </a:prstGeom>
          <a:ln>
            <a:tailEnd type="triangle"/>
          </a:ln>
        </p:spPr>
        <p:style>
          <a:lnRef idx="1">
            <a:schemeClr val="accent4"/>
          </a:lnRef>
          <a:fillRef idx="0">
            <a:schemeClr val="accent4"/>
          </a:fillRef>
          <a:effectRef idx="0">
            <a:schemeClr val="accent4"/>
          </a:effectRef>
          <a:fontRef idx="minor">
            <a:schemeClr val="tx1"/>
          </a:fontRef>
        </p:style>
      </p:cxnSp>
      <p:sp>
        <p:nvSpPr>
          <p:cNvPr id="33" name="TextBox 32">
            <a:extLst>
              <a:ext uri="{FF2B5EF4-FFF2-40B4-BE49-F238E27FC236}">
                <a16:creationId xmlns:a16="http://schemas.microsoft.com/office/drawing/2014/main" id="{70CECD23-91E7-49C0-86AE-B8723D2C912F}"/>
              </a:ext>
            </a:extLst>
          </p:cNvPr>
          <p:cNvSpPr txBox="1"/>
          <p:nvPr/>
        </p:nvSpPr>
        <p:spPr>
          <a:xfrm>
            <a:off x="11094720" y="1718054"/>
            <a:ext cx="957432" cy="276999"/>
          </a:xfrm>
          <a:prstGeom prst="rect">
            <a:avLst/>
          </a:prstGeom>
          <a:noFill/>
        </p:spPr>
        <p:txBody>
          <a:bodyPr wrap="square" rtlCol="0">
            <a:spAutoFit/>
          </a:bodyPr>
          <a:lstStyle/>
          <a:p>
            <a:r>
              <a:rPr lang="en-IN" sz="1200" dirty="0">
                <a:solidFill>
                  <a:schemeClr val="tx1">
                    <a:lumMod val="75000"/>
                    <a:lumOff val="25000"/>
                  </a:schemeClr>
                </a:solidFill>
              </a:rPr>
              <a:t>Anomalies</a:t>
            </a:r>
          </a:p>
        </p:txBody>
      </p:sp>
    </p:spTree>
    <p:extLst>
      <p:ext uri="{BB962C8B-B14F-4D97-AF65-F5344CB8AC3E}">
        <p14:creationId xmlns:p14="http://schemas.microsoft.com/office/powerpoint/2010/main" val="37664982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E0E734-88DE-479C-BAED-10310E7C12FE}"/>
              </a:ext>
            </a:extLst>
          </p:cNvPr>
          <p:cNvSpPr>
            <a:spLocks noGrp="1"/>
          </p:cNvSpPr>
          <p:nvPr>
            <p:ph type="title"/>
          </p:nvPr>
        </p:nvSpPr>
        <p:spPr/>
        <p:txBody>
          <a:bodyPr/>
          <a:lstStyle/>
          <a:p>
            <a:r>
              <a:rPr lang="en-IN" dirty="0"/>
              <a:t>3) Abnormal values for certain period </a:t>
            </a:r>
          </a:p>
        </p:txBody>
      </p:sp>
      <p:pic>
        <p:nvPicPr>
          <p:cNvPr id="5" name="Content Placeholder 4">
            <a:extLst>
              <a:ext uri="{FF2B5EF4-FFF2-40B4-BE49-F238E27FC236}">
                <a16:creationId xmlns:a16="http://schemas.microsoft.com/office/drawing/2014/main" id="{6F071A70-27BA-4285-9CC3-6742533DCE72}"/>
              </a:ext>
            </a:extLst>
          </p:cNvPr>
          <p:cNvPicPr>
            <a:picLocks noGrp="1" noChangeAspect="1"/>
          </p:cNvPicPr>
          <p:nvPr>
            <p:ph idx="1"/>
          </p:nvPr>
        </p:nvPicPr>
        <p:blipFill>
          <a:blip r:embed="rId2"/>
          <a:stretch>
            <a:fillRect/>
          </a:stretch>
        </p:blipFill>
        <p:spPr>
          <a:xfrm>
            <a:off x="720761" y="1861939"/>
            <a:ext cx="7285038" cy="1969266"/>
          </a:xfrm>
        </p:spPr>
      </p:pic>
      <p:pic>
        <p:nvPicPr>
          <p:cNvPr id="7" name="Picture 6">
            <a:extLst>
              <a:ext uri="{FF2B5EF4-FFF2-40B4-BE49-F238E27FC236}">
                <a16:creationId xmlns:a16="http://schemas.microsoft.com/office/drawing/2014/main" id="{6A2477CB-B69A-4A39-A403-2E52E1272EF5}"/>
              </a:ext>
            </a:extLst>
          </p:cNvPr>
          <p:cNvPicPr>
            <a:picLocks noChangeAspect="1"/>
          </p:cNvPicPr>
          <p:nvPr/>
        </p:nvPicPr>
        <p:blipFill>
          <a:blip r:embed="rId3"/>
          <a:stretch>
            <a:fillRect/>
          </a:stretch>
        </p:blipFill>
        <p:spPr>
          <a:xfrm>
            <a:off x="720763" y="3883310"/>
            <a:ext cx="7285036" cy="1969266"/>
          </a:xfrm>
          <a:prstGeom prst="rect">
            <a:avLst/>
          </a:prstGeom>
        </p:spPr>
      </p:pic>
      <p:sp>
        <p:nvSpPr>
          <p:cNvPr id="8" name="TextBox 7">
            <a:extLst>
              <a:ext uri="{FF2B5EF4-FFF2-40B4-BE49-F238E27FC236}">
                <a16:creationId xmlns:a16="http://schemas.microsoft.com/office/drawing/2014/main" id="{25FB876A-AC9D-49D6-8922-BD4AAA868C5D}"/>
              </a:ext>
            </a:extLst>
          </p:cNvPr>
          <p:cNvSpPr txBox="1"/>
          <p:nvPr/>
        </p:nvSpPr>
        <p:spPr>
          <a:xfrm>
            <a:off x="8208401" y="2304127"/>
            <a:ext cx="3262838" cy="2554545"/>
          </a:xfrm>
          <a:prstGeom prst="rect">
            <a:avLst/>
          </a:prstGeom>
          <a:noFill/>
        </p:spPr>
        <p:txBody>
          <a:bodyPr wrap="square" rtlCol="0">
            <a:spAutoFit/>
          </a:bodyPr>
          <a:lstStyle/>
          <a:p>
            <a:pPr marL="285750" indent="-285750">
              <a:buFont typeface="Arial" panose="020B0604020202020204" pitchFamily="34" charset="0"/>
              <a:buChar char="•"/>
            </a:pPr>
            <a:r>
              <a:rPr lang="en-IN" sz="1600" dirty="0">
                <a:solidFill>
                  <a:schemeClr val="tx1">
                    <a:lumMod val="75000"/>
                    <a:lumOff val="25000"/>
                  </a:schemeClr>
                </a:solidFill>
              </a:rPr>
              <a:t>In the timeseries plot, clearly the flow value of AID09206 is abnormally low and for AID09118 it is abnormally high for the same time period in early Dec 2023.</a:t>
            </a:r>
          </a:p>
          <a:p>
            <a:pPr marL="285750" indent="-285750">
              <a:buFont typeface="Arial" panose="020B0604020202020204" pitchFamily="34" charset="0"/>
              <a:buChar char="•"/>
            </a:pPr>
            <a:endParaRPr lang="en-IN" sz="1600" dirty="0">
              <a:solidFill>
                <a:schemeClr val="tx1">
                  <a:lumMod val="75000"/>
                  <a:lumOff val="25000"/>
                </a:schemeClr>
              </a:solidFill>
            </a:endParaRPr>
          </a:p>
          <a:p>
            <a:pPr marL="285750" indent="-285750">
              <a:buFont typeface="Arial" panose="020B0604020202020204" pitchFamily="34" charset="0"/>
              <a:buChar char="•"/>
            </a:pPr>
            <a:r>
              <a:rPr lang="en-IN" sz="1600" dirty="0">
                <a:solidFill>
                  <a:schemeClr val="tx1">
                    <a:lumMod val="75000"/>
                    <a:lumOff val="25000"/>
                  </a:schemeClr>
                </a:solidFill>
              </a:rPr>
              <a:t>Even though these detectors are far away from each other we see the anomaly during same time period</a:t>
            </a:r>
          </a:p>
        </p:txBody>
      </p:sp>
      <p:cxnSp>
        <p:nvCxnSpPr>
          <p:cNvPr id="10" name="Straight Arrow Connector 9">
            <a:extLst>
              <a:ext uri="{FF2B5EF4-FFF2-40B4-BE49-F238E27FC236}">
                <a16:creationId xmlns:a16="http://schemas.microsoft.com/office/drawing/2014/main" id="{BBEE846D-E129-4014-8AF1-5D801398F44B}"/>
              </a:ext>
            </a:extLst>
          </p:cNvPr>
          <p:cNvCxnSpPr/>
          <p:nvPr/>
        </p:nvCxnSpPr>
        <p:spPr>
          <a:xfrm>
            <a:off x="3747246" y="5439893"/>
            <a:ext cx="304800"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5837E057-F1D0-4058-8FBF-865DC3EA6CC8}"/>
              </a:ext>
            </a:extLst>
          </p:cNvPr>
          <p:cNvCxnSpPr/>
          <p:nvPr/>
        </p:nvCxnSpPr>
        <p:spPr>
          <a:xfrm>
            <a:off x="3729316" y="2956669"/>
            <a:ext cx="304800"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416384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F6062C1-47BA-4223-82FF-1220A727BEFD}"/>
              </a:ext>
            </a:extLst>
          </p:cNvPr>
          <p:cNvSpPr txBox="1"/>
          <p:nvPr/>
        </p:nvSpPr>
        <p:spPr>
          <a:xfrm>
            <a:off x="3254189" y="2151529"/>
            <a:ext cx="6526305" cy="1569660"/>
          </a:xfrm>
          <a:prstGeom prst="rect">
            <a:avLst/>
          </a:prstGeom>
          <a:noFill/>
        </p:spPr>
        <p:txBody>
          <a:bodyPr wrap="square" rtlCol="0">
            <a:spAutoFit/>
          </a:bodyPr>
          <a:lstStyle/>
          <a:p>
            <a:r>
              <a:rPr lang="en-IN" sz="9600" dirty="0">
                <a:solidFill>
                  <a:schemeClr val="tx1">
                    <a:lumMod val="75000"/>
                    <a:lumOff val="25000"/>
                  </a:schemeClr>
                </a:solidFill>
                <a:latin typeface="+mj-lt"/>
              </a:rPr>
              <a:t>Thank You</a:t>
            </a:r>
            <a:endParaRPr lang="en-IN" dirty="0">
              <a:solidFill>
                <a:schemeClr val="tx1">
                  <a:lumMod val="75000"/>
                  <a:lumOff val="25000"/>
                </a:schemeClr>
              </a:solidFill>
              <a:latin typeface="+mj-lt"/>
            </a:endParaRPr>
          </a:p>
        </p:txBody>
      </p:sp>
    </p:spTree>
    <p:extLst>
      <p:ext uri="{BB962C8B-B14F-4D97-AF65-F5344CB8AC3E}">
        <p14:creationId xmlns:p14="http://schemas.microsoft.com/office/powerpoint/2010/main" val="3883686735"/>
      </p:ext>
    </p:extLst>
  </p:cSld>
  <p:clrMapOvr>
    <a:masterClrMapping/>
  </p:clrMapOvr>
</p:sld>
</file>

<file path=ppt/theme/theme1.xml><?xml version="1.0" encoding="utf-8"?>
<a:theme xmlns:a="http://schemas.openxmlformats.org/drawingml/2006/main" name="Retrospect">
  <a:themeElements>
    <a:clrScheme name="Blue Green">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Cambria-Calibri">
      <a:majorFont>
        <a:latin typeface="Cambria" panose="02040503050406030204"/>
        <a:ea typeface=""/>
        <a:cs typeface=""/>
        <a:font script="Jpan" typeface="ＭＳ Ｐゴシック"/>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02006FA4-1611-4B07-AF7F-85CF6D20EB3E}"/>
    </a:ext>
  </a:extLst>
</a:theme>
</file>

<file path=docProps/app.xml><?xml version="1.0" encoding="utf-8"?>
<Properties xmlns="http://schemas.openxmlformats.org/officeDocument/2006/extended-properties" xmlns:vt="http://schemas.openxmlformats.org/officeDocument/2006/docPropsVTypes">
  <Template>Retrospect</Template>
  <TotalTime>272</TotalTime>
  <Words>383</Words>
  <Application>Microsoft Office PowerPoint</Application>
  <PresentationFormat>Widescreen</PresentationFormat>
  <Paragraphs>30</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Calibri</vt:lpstr>
      <vt:lpstr>Cambria</vt:lpstr>
      <vt:lpstr>Wingdings</vt:lpstr>
      <vt:lpstr>Retrospect</vt:lpstr>
      <vt:lpstr>Anomalies in Traffic Data of Strategic/Major Roads</vt:lpstr>
      <vt:lpstr>Introduction</vt:lpstr>
      <vt:lpstr>1) Trees Blocking the view</vt:lpstr>
      <vt:lpstr>2) Diverging roads’ flow anomaly</vt:lpstr>
      <vt:lpstr>3) Abnormal values for certain period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Anomalies in Traffic Data of Strategic/Major Roads</dc:title>
  <dc:creator>Nahush Kolhe</dc:creator>
  <cp:lastModifiedBy>Nahush Kolhe</cp:lastModifiedBy>
  <cp:revision>3</cp:revision>
  <dcterms:created xsi:type="dcterms:W3CDTF">2024-05-30T12:02:37Z</dcterms:created>
  <dcterms:modified xsi:type="dcterms:W3CDTF">2024-05-30T16:34:49Z</dcterms:modified>
</cp:coreProperties>
</file>